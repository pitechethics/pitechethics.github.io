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 slide. Delete before presenting if you would rather not spend session time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Say your name, the org, and what the thing is — then move on. The values work is what the other six slides are for; do not spend your five minutes on a project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seconds. Two values done well beats four done thinly — delete the third card if you only committed to two. The 'where it came from' line matters: it is the difference between a value you discovered and a value you assumed. If you introduced a value nobody at the org asked for, say so — that is a real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This is the operationalization slide — the one that answers 'what did you actually do about it'. Keep the middle column at the level of a requirement ('the system must not store X') and the third column at the level of a change ('removed the X field from the intake form'). Be strict with the status column: 'Planned only' is a perfectly good answer and we would much rather hear it than discover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 and the most important slide in your five minutes. Put the artifact on screen and talk over it. If you have a before/after, show both. Screenshots from Figma, your repo, your host's system, a rubric, a memo, or a photo of the workshop wall all count. Blur anything your host would not want on a shared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Duplicate this slide for a third artifact, or delete it if one was enough. Whatever you keep, the whole talk still has to land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seconds. Dissolution is rare and worth dwelling on if you managed one. Most real projects land on compromise or trade-off, and naming the cost out loud is the point of the exercise — a trade-off you can state is a trade-off someone else can contest. If nothing conflicted, say that and say why you think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seconds, and please be honest on the left half. 'It helped me name something but did not change the build' is a finding we want, not a disappointment. Last year's cohort told us the framework would have done more for them if it had arrived earlier — if that is true for you too, say it here. On the right, name a check someone could actually run, not an aspiration.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DLI CONSCIENTIOUS TECH DESIGN WORKSHOP 2026  ·  FINAL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906742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200" b="1" i="0">
                <a:solidFill>
                  <a:srgbClr val="221C1B"/>
                </a:solidFill>
                <a:latin typeface="Georgia"/>
              </a:rPr>
              <a:t>Values in Practice</a:t>
            </a:r>
          </a:p>
          <a:p>
            <a:pPr algn="l">
              <a:lnSpc>
                <a:spcPct val="115000"/>
              </a:lnSpc>
            </a:pPr>
            <a:r>
              <a:rPr sz="2100" b="0" i="1">
                <a:solidFill>
                  <a:srgbClr val="8F2D2A"/>
                </a:solidFill>
                <a:latin typeface="Georgia"/>
              </a:rPr>
              <a:t>What we actually did with the values we committed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950208"/>
            <a:ext cx="2011680" cy="3175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224528"/>
            <a:ext cx="93991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221C1B"/>
                </a:solidFill>
                <a:latin typeface="Arial"/>
              </a:rPr>
              <a:t>Ten Siegel PiTech PhD Impact Fellows  ·  Five minutes each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D5450"/>
                </a:solidFill>
                <a:latin typeface="Arial"/>
              </a:rPr>
              <a:t>Monday, August 17  ·  Cornell Tech + Zoom</a:t>
            </a:r>
          </a:p>
          <a:p>
            <a:pPr algn="l"/>
            <a:r>
              <a:rPr sz="1150" b="0" i="0">
                <a:solidFill>
                  <a:srgbClr val="9A918C"/>
                </a:solidFill>
                <a:latin typeface="Arial"/>
              </a:rPr>
              <a:t>Digital Life Initiative × Public Interest Technology, Cornell 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WE ARE ASKING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Five minutes on how you put values into your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Not a project overview. We already know your project. Spend the whole five minutes on the values work — and show us the artifacts.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212848"/>
            <a:ext cx="3429914" cy="182880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2432304"/>
            <a:ext cx="295442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75552"/>
                </a:solidFill>
                <a:latin typeface="Georgia"/>
              </a:rPr>
              <a:t>01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221C1B"/>
                </a:solidFill>
                <a:latin typeface="Arial"/>
              </a:rPr>
              <a:t>Who you are, where you worked</a:t>
            </a:r>
          </a:p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Your name, your host organization, one line on what you built or shaped this summer. A photo with your team if you have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0890" y="2212848"/>
            <a:ext cx="3429914" cy="182880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8634" y="2432304"/>
            <a:ext cx="295442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75552"/>
                </a:solidFill>
                <a:latin typeface="Georgia"/>
              </a:rPr>
              <a:t>02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221C1B"/>
                </a:solidFill>
                <a:latin typeface="Arial"/>
              </a:rPr>
              <a:t>The values you committed to</a:t>
            </a:r>
          </a:p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Two to four. Named, defined in your own words, and traced back to where in Discovery they came from.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4852" y="2212848"/>
            <a:ext cx="3429914" cy="182880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32596" y="2432304"/>
            <a:ext cx="295442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75552"/>
                </a:solidFill>
                <a:latin typeface="Georgia"/>
              </a:rPr>
              <a:t>03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221C1B"/>
                </a:solidFill>
                <a:latin typeface="Arial"/>
              </a:rPr>
              <a:t>What you actually did about them</a:t>
            </a:r>
          </a:p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Each value → the design requirement it produced → the concrete move you made. And whether that move shipped or is still a plan.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297679"/>
            <a:ext cx="3429914" cy="182880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2" y="4517136"/>
            <a:ext cx="295442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75552"/>
                </a:solidFill>
                <a:latin typeface="Georgia"/>
              </a:rPr>
              <a:t>04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221C1B"/>
                </a:solidFill>
                <a:latin typeface="Arial"/>
              </a:rPr>
              <a:t>The artifacts</a:t>
            </a:r>
          </a:p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Screenshots, Figma frames, rubrics, code, docs, workshop photos. This is the part we most want to see. Show, don't summarise.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0890" y="4297679"/>
            <a:ext cx="3429914" cy="182880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8634" y="4517136"/>
            <a:ext cx="295442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75552"/>
                </a:solidFill>
                <a:latin typeface="Georgia"/>
              </a:rPr>
              <a:t>05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221C1B"/>
                </a:solidFill>
                <a:latin typeface="Arial"/>
              </a:rPr>
              <a:t>Where values collided</a:t>
            </a:r>
          </a:p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Which values conflicted — and which you dissolved, which you compromised, which you traded off and at what cost.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4852" y="4297679"/>
            <a:ext cx="3429914" cy="182880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32596" y="4517136"/>
            <a:ext cx="295442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75552"/>
                </a:solidFill>
                <a:latin typeface="Georgia"/>
              </a:rPr>
              <a:t>06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1" i="0">
                <a:solidFill>
                  <a:srgbClr val="221C1B"/>
                </a:solidFill>
                <a:latin typeface="Arial"/>
              </a:rPr>
              <a:t>Framework, verification, next steps</a:t>
            </a:r>
          </a:p>
          <a:p>
            <a:pPr algn="l">
              <a:lnSpc>
                <a:spcPct val="124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Where Values at Play earned its keep and where it did not. How you would check the values actually landed. What happens after August.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8F2D2A"/>
                </a:solidFill>
                <a:latin typeface="Arial"/>
              </a:rPr>
              <a:t>Five minutes is short and we have ten of you — we will hold the time. Rehearse it once.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HOW TO USE THIS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Find your name, fill in your seven slides, delete nothing 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Your section is already labelled with your name and host organization. Everything in grey italics is a placeholder — click it and type over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12848"/>
            <a:ext cx="5254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1C1B"/>
                </a:solidFill>
                <a:latin typeface="Arial"/>
              </a:rPr>
              <a:t>Work only in your own section.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Scroll to the slide with your name on it. The six slides after it are yours. Please leave everyone else's slides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73552"/>
            <a:ext cx="5254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1C1B"/>
                </a:solidFill>
                <a:latin typeface="Arial"/>
              </a:rPr>
              <a:t>Overwrite the grey italic text.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Grey italic = a prompt for you. Black text = a heading to keep. If a prompt does not apply to you, delete that line rather than leaving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334256"/>
            <a:ext cx="5254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1C1B"/>
                </a:solidFill>
                <a:latin typeface="Arial"/>
              </a:rPr>
              <a:t>Replace the dashed boxes with images.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Click the dashed box, delete it, then Insert → Image. Screenshots from Figma, your repo, your host's system, or photos from the June workshop all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394960"/>
            <a:ext cx="5254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1C1B"/>
                </a:solidFill>
                <a:latin typeface="Arial"/>
              </a:rPr>
              <a:t>Need more room for artifacts?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Duplicate your artifact slide (right-click → Duplicate slide). Only one artifact? Delete the second one. Just keep the whole thing to five minutes.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2212848"/>
            <a:ext cx="5254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1C1B"/>
                </a:solidFill>
                <a:latin typeface="Arial"/>
              </a:rPr>
              <a:t>Nothing confidential.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Blur, crop, or mock up anything your host organization would not want on a shared screen. Names, addresses, case data, live credentials — check before you paste.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3273552"/>
            <a:ext cx="5254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1C1B"/>
                </a:solidFill>
                <a:latin typeface="Arial"/>
              </a:rPr>
              <a:t>Speaker notes are yours.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Use the notes field for what you will say. We will not read them, and they are not part of the five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4334256"/>
            <a:ext cx="5254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1C1B"/>
                </a:solidFill>
                <a:latin typeface="Arial"/>
              </a:rPr>
              <a:t>"Planned" is a real answer.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We would rather see one honest "designed but not shipped" than a slide that implies more landed than did. Say which is which.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94960"/>
            <a:ext cx="52545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21C1B"/>
                </a:solidFill>
                <a:latin typeface="Arial"/>
              </a:rPr>
              <a:t>Bring it back to the canvas.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Most of what goes on these slides is already in your Figma Discovery and Implementation canvas. Fill the canvas first, then harvest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A STRONG SLIDE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Specific, evidenced, honest about the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Same three prompts, answered two ways. The right-hand column is what we are looking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72968" y="175564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9A918C"/>
                </a:solidFill>
                <a:latin typeface="Arial"/>
              </a:rPr>
              <a:t>TOO THIN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0648" y="1755648"/>
            <a:ext cx="4154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F8D90"/>
                </a:solidFill>
                <a:latin typeface="Arial"/>
              </a:rPr>
              <a:t>WHAT WE WANT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2968" y="2121408"/>
            <a:ext cx="3977639" cy="1133856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470648" y="2121408"/>
            <a:ext cx="4154119" cy="1133856"/>
          </a:xfrm>
          <a:prstGeom prst="rect">
            <a:avLst/>
          </a:prstGeom>
          <a:solidFill>
            <a:srgbClr val="E1EFEF"/>
          </a:solidFill>
          <a:ln w="12700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2176272"/>
            <a:ext cx="228600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21C1B"/>
                </a:solidFill>
                <a:latin typeface="Arial"/>
              </a:rPr>
              <a:t>Naming a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2286000"/>
            <a:ext cx="3575303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"We cared about privacy."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71816" y="2286000"/>
            <a:ext cx="3751783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221C1B"/>
                </a:solidFill>
                <a:latin typeface="Arial"/>
              </a:rPr>
              <a:t>"Confidentiality — for us, that a care worker can see an alert without seeing the resident's room. It came from the org's HIPAA language and from the two staff I shadowed."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3419856"/>
            <a:ext cx="3977639" cy="1133856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70648" y="3419856"/>
            <a:ext cx="4154119" cy="1133856"/>
          </a:xfrm>
          <a:prstGeom prst="rect">
            <a:avLst/>
          </a:prstGeom>
          <a:solidFill>
            <a:srgbClr val="E1EFEF"/>
          </a:solidFill>
          <a:ln w="12700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66928" y="3474720"/>
            <a:ext cx="228600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21C1B"/>
                </a:solidFill>
                <a:latin typeface="Arial"/>
              </a:rPr>
              <a:t>Showing the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6" y="3584448"/>
            <a:ext cx="3575303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"I added privacy features to the interface."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3584448"/>
            <a:ext cx="3751783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221C1B"/>
                </a:solidFill>
                <a:latin typeface="Arial"/>
              </a:rPr>
              <a:t>"Screenshot: the alert card now shows a posture icon, not a video frame. Before/after on the right. Merged into the prototype on July 22."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2968" y="4718304"/>
            <a:ext cx="3977639" cy="1133856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470648" y="4718304"/>
            <a:ext cx="4154119" cy="1133856"/>
          </a:xfrm>
          <a:prstGeom prst="rect">
            <a:avLst/>
          </a:prstGeom>
          <a:solidFill>
            <a:srgbClr val="E1EFEF"/>
          </a:solidFill>
          <a:ln w="12700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228600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21C1B"/>
                </a:solidFill>
                <a:latin typeface="Arial"/>
              </a:rPr>
              <a:t>Handling a conflict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4882896"/>
            <a:ext cx="3575303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"Safety and privacy were in tension."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6" y="4882896"/>
            <a:ext cx="3751783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221C1B"/>
                </a:solidFill>
                <a:latin typeface="Arial"/>
              </a:rPr>
              <a:t>"Traded off: staff get an immediate alert, resident is notified second. Cost: the resident learns about an escalation after someone else does. We chose it knowingly; here is the note we wrote for the host."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A918C"/>
                </a:solidFill>
                <a:latin typeface="Arial"/>
              </a:rPr>
              <a:t>The example above is invented — it is not anyone's project. Use your own words and your own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COMPLETING THE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Four things, and only one of them is these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The slides are Monday. The rest is what closes out your participation in the 2026 Conscientious Tech Design Workshop.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2545003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2545003" cy="109728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86384" y="2084832"/>
            <a:ext cx="1481328" cy="274320"/>
          </a:xfrm>
          <a:prstGeom prst="round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86384" y="2084832"/>
            <a:ext cx="14813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B75552"/>
                </a:solidFill>
                <a:latin typeface="Arial"/>
              </a:rPr>
              <a:t>DO THIS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505456"/>
            <a:ext cx="2106091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1" i="0">
                <a:solidFill>
                  <a:srgbClr val="221C1B"/>
                </a:solidFill>
                <a:latin typeface="Georgia"/>
              </a:rPr>
              <a:t>Your Figma canvas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Discovery and Implementation both filled in — Verification too if you went that route. Most of you are already there. If you are behind, finish the canvas before you touch the slides: the slides are a harvest of the canvas, not a substitute for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4539" y="1755648"/>
            <a:ext cx="2545003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04539" y="1755648"/>
            <a:ext cx="2545003" cy="109728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623995" y="2084832"/>
            <a:ext cx="1481328" cy="274320"/>
          </a:xfrm>
          <a:prstGeom prst="round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23995" y="2084832"/>
            <a:ext cx="14813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B75552"/>
                </a:solidFill>
                <a:latin typeface="Arial"/>
              </a:rPr>
              <a:t>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995" y="2505456"/>
            <a:ext cx="2106091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1" i="0">
                <a:solidFill>
                  <a:srgbClr val="221C1B"/>
                </a:solidFill>
                <a:latin typeface="Georgia"/>
              </a:rPr>
              <a:t>Both 1:1 check-ins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If you have only had one, book the second with Hauke or Jae June this week. We cannot sign off on your participation without both.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2151" y="1755648"/>
            <a:ext cx="2545003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42151" y="1755648"/>
            <a:ext cx="2545003" cy="109728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461607" y="2084832"/>
            <a:ext cx="1481328" cy="274320"/>
          </a:xfrm>
          <a:prstGeom prst="round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61607" y="2084832"/>
            <a:ext cx="14813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B75552"/>
                </a:solidFill>
                <a:latin typeface="Arial"/>
              </a:rPr>
              <a:t>DUE MONDAY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2505456"/>
            <a:ext cx="2106091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1" i="0">
                <a:solidFill>
                  <a:srgbClr val="221C1B"/>
                </a:solidFill>
                <a:latin typeface="Georgia"/>
              </a:rPr>
              <a:t>These five minutes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Fill in the seven slides in your section of this deck before the session starts. We present straight from this deck.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9763" y="1755648"/>
            <a:ext cx="2545003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79763" y="1755648"/>
            <a:ext cx="2545003" cy="109728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9299219" y="2084832"/>
            <a:ext cx="1481328" cy="274320"/>
          </a:xfrm>
          <a:prstGeom prst="round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299219" y="2084832"/>
            <a:ext cx="14813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F8D90"/>
                </a:solidFill>
                <a:latin typeface="Arial"/>
              </a:rPr>
              <a:t>NOT DUE MONDAY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9219" y="2505456"/>
            <a:ext cx="2106091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600" b="1" i="0">
                <a:solidFill>
                  <a:srgbClr val="221C1B"/>
                </a:solidFill>
                <a:latin typeface="Georgia"/>
              </a:rPr>
              <a:t>The reflective write-up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D5450"/>
                </a:solidFill>
                <a:latin typeface="Arial"/>
              </a:rPr>
              <a:t>In the template we have shared separately. It is not due for the session — but drafting it first makes the slides much easier to write, because it is the same material in longer form.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A918C"/>
                </a:solidFill>
                <a:latin typeface="Arial"/>
              </a:rPr>
              <a:t>Links to the Figma canvas and the write-up template are in the email — replace this line with them once you have added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Alaa Daffalla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Maimonides Medical Center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Maimonides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Alaa Daffalla  ·  Maimonides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Alaa Daffalla  ·  Maimonides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Alaa Daffalla  ·  Maimonides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Alaa Daffalla  ·  Maimonides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Alaa Daffalla  ·  Maimonides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Alaa Daffalla  ·  Maimonides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Alaa Daffalla  ·  Maimonides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Daniel Enriquez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Center for Family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CFS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Daniel Enriquez  ·  CFS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Daniel Enriquez  ·  CFS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Daniel Enriquez  ·  CFS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Daniel Enriquez  ·  CFS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Daniel Enriquez  ·  CFS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Daniel Enriquez  ·  CFS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Daniel Enriquez  ·  CFS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Hal Triedman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NYC Mayor's Office of Contract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MOCS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Hal Triedman  ·  MOCS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Hal Triedman  ·  MOCS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Hal Triedman  ·  MOCS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Hal Triedman  ·  MOCS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Hal Triedman  ·  MOCS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Hal Triedman  ·  MOCS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Hal Triedman  ·  MOCS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Isabel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NYC Office of Technology &amp; Innovation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NYC OTI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Isabel Corpus  ·  NYC OTI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Isabel Corpus  ·  NYC OTI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Isabel Corpus  ·  NYC OTI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Isabel Corpus  ·  NYC OTI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Isabel Corpus  ·  NYC OTI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Isabel Corpus  ·  NYC OTI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Isabel Corpus  ·  NYC OTI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Jingruo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NYC Department for the Aging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NYC Aging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Jingruo Chen  ·  NYC Aging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Jingruo Chen  ·  NYC 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Jingruo Chen  ·  NYC Aging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Jingruo Chen  ·  NYC Aging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Jingruo Chen  ·  NYC Aging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Jingruo Chen  ·  NYC Aging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Jingruo Chen  ·  NYC 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Nanyi Jiang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National Women's Hall of Fame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NWHF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Nanyi Jiang  ·  NWHF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Nanyi Jiang  ·  NWHF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Nanyi Jiang  ·  NWHF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Nanyi Jiang  ·  NWHF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Nanyi Jiang  ·  NWHF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Nanyi Jiang  ·  NWHF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Nanyi Jiang  ·  NWHF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Suvadip Sana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NYC Council Data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NYC Council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Suvadip Sana  ·  NYC Council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Suvadip Sana  ·  NYC Council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Suvadip Sana  ·  NYC Council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Suvadip Sana  ·  NYC Council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Suvadip Sana  ·  NYC Council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Suvadip Sana  ·  NYC Council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Suvadip Sana  ·  NYC Council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Tan Gemicioglu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Ability Beyond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Ability Beyond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 Gemicioglu  ·  Ability Beyond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 Gemicioglu  ·  Ability Beyond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 Gemicioglu  ·  Ability Beyond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 Gemicioglu  ·  Ability Beyond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 Gemicioglu  ·  Ability Beyond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 Gemicioglu  ·  Ability Beyond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 Gemicioglu  ·  Ability Beyond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Tanvir Ahmed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Environmental Defense Fund — MethaneSAT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MethaneSAT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Tanvir Ahmed  ·  MethaneSAT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Tanvir Ahmed  ·  MethaneSAT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Tanvir Ahmed  ·  MethaneSAT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Tanvir Ahmed  ·  MethaneSAT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Tanvir Ahmed  ·  MethaneSAT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Tanvir Ahmed  ·  MethaneSAT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Tanvir Ahmed  ·  MethaneSAT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051560"/>
            <a:ext cx="61923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PRACTICE  ·  PITECH FELLOW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89888"/>
            <a:ext cx="619238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221C1B"/>
                </a:solidFill>
                <a:latin typeface="Georgia"/>
              </a:rPr>
              <a:t>Ulysse Hennebelle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70048"/>
            <a:ext cx="619238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8F2D2A"/>
                </a:solidFill>
                <a:latin typeface="Georgia"/>
              </a:rPr>
              <a:t>New York Police Department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310128"/>
            <a:ext cx="1645920" cy="2540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619238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worked on this summer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0" i="1">
                <a:solidFill>
                  <a:srgbClr val="9A918C"/>
                </a:solidFill>
                <a:latin typeface="Arial"/>
              </a:rPr>
              <a:t>One sentence. The thing itself, not the values — you have six more slides for those.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My role in it</a:t>
            </a:r>
          </a:p>
          <a:p>
            <a:pPr algn="l">
              <a:lnSpc>
                <a:spcPct val="118000"/>
              </a:lnSpc>
            </a:pPr>
            <a:r>
              <a:rPr sz="1200" b="0" i="1">
                <a:solidFill>
                  <a:srgbClr val="9A918C"/>
                </a:solidFill>
                <a:latin typeface="Arial"/>
              </a:rPr>
              <a:t>Designer? Analyst? The person who wrote the model? Say what you personally had your hands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1631" y="1051560"/>
            <a:ext cx="4423135" cy="3566160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75951" y="2450591"/>
            <a:ext cx="3874495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You with your host-organization team, or a photo from the June workshop. Optional but nice.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4754880"/>
            <a:ext cx="44231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Who I worked with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Names/roles of the people at NYPD you did this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Ulysse Hennebelle  ·  NYPD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1 of 7  ·  aim for 30 sec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DISCOVERY  →  COMMITMENT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values I committed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Two to four values. Pull them straight off your Figma Discovery canvas — including any you brought yourself as the PiTech Fellow.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1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869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91440"/>
          </a:xfrm>
          <a:prstGeom prst="rect">
            <a:avLst/>
          </a:prstGeom>
          <a:solidFill>
            <a:srgbClr val="B7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644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2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0468" y="1755648"/>
            <a:ext cx="3454298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170468" y="1755648"/>
            <a:ext cx="3454298" cy="91440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08212" y="2103120"/>
            <a:ext cx="297881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 i="0">
                <a:solidFill>
                  <a:srgbClr val="9A918C"/>
                </a:solidFill>
                <a:latin typeface="Arial"/>
              </a:rPr>
              <a:t>VALUE 3 (optional)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2200" b="0" i="1">
                <a:solidFill>
                  <a:srgbClr val="9A918C"/>
                </a:solidFill>
                <a:latin typeface="Arial"/>
              </a:rPr>
              <a:t>Name the value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In my project this means…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Your own definition, one sentence. Not the dictionary — what it demands of this specific system.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Where it came from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Functional description / Key actors &amp; stakeholders / Technical &amp; material constraints / Societal context / me, the fellow — delete the rest.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Who benefits if we get it right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concrete about the person.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Ulysse Hennebelle  ·  NYPD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2 of 7  ·  aim for 45 sec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How I operationalized each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Value → the design requirement it produced → the concrete thing that changed. Mark honestly whether it shipped or stayed a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755648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IT DEMANDED (DESIGN REQUIREMENT)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55648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WHAT I ACTUALLY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6" y="1755648"/>
            <a:ext cx="1600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1057839" cy="15240"/>
          </a:xfrm>
          <a:prstGeom prst="rect">
            <a:avLst/>
          </a:prstGeom>
          <a:solidFill>
            <a:srgbClr val="22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84832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9464" y="2084832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34056" y="2212848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084832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212848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5016" y="2084832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24744" y="2203704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18688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9464" y="3218688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34056" y="3346704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18688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08192" y="3346704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5016" y="3218688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24744" y="3337560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2544"/>
            <a:ext cx="1874519" cy="1005840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1581911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9A918C"/>
                </a:solidFill>
                <a:latin typeface="Arial"/>
              </a:rPr>
              <a:t>Value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9464" y="4352544"/>
            <a:ext cx="3246120" cy="100584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734056" y="4480560"/>
            <a:ext cx="2916936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"To honour this, the system has to ______." The requirement, not the feature.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352544"/>
            <a:ext cx="43434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08192" y="4480560"/>
            <a:ext cx="401421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specific move: the field you removed, the threshold you changed, the consent step you added, the section you wrote into the rubric. Name the artifact it lives 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15016" y="4352544"/>
            <a:ext cx="16002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24744" y="4471416"/>
            <a:ext cx="13807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F8D90"/>
                </a:solidFill>
                <a:latin typeface="Arial"/>
              </a:rPr>
              <a:t>Shipped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A0764F"/>
                </a:solidFill>
                <a:latin typeface="Arial"/>
              </a:rPr>
              <a:t>Partially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9A918C"/>
                </a:solidFill>
                <a:latin typeface="Arial"/>
              </a:rPr>
              <a:t>Planned only</a:t>
            </a:r>
          </a:p>
          <a:p>
            <a:pPr algn="l"/>
            <a:r>
              <a:rPr sz="800" b="0" i="1">
                <a:solidFill>
                  <a:srgbClr val="9A918C"/>
                </a:solidFill>
                <a:latin typeface="Arial"/>
              </a:rPr>
              <a:t>keep 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41264"/>
            <a:ext cx="11057839" cy="47548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1065550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221C1B"/>
                </a:solidFill>
                <a:latin typeface="Arial"/>
              </a:rPr>
              <a:t>Add rows if you have more. If a value produced no change at all, keep the row and say so — that is a finding, not a failure.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Ulysse Hennebelle  ·  NYPD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3 of 7  ·  aim for 60 sec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Show it. A screenshot, a Figma frame, a rubric, a diff, a document, a photo of the wall. Talk us through what we are looking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Ulysse Hennebelle  ·  NYPD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4 of 7  ·  aim for 60 sec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The artifact,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A second artifact, a before/after, or a close-up. Duplicate this slide if you need more — delete it if you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7178040" cy="3913632"/>
          </a:xfrm>
          <a:prstGeom prst="rect">
            <a:avLst/>
          </a:prstGeom>
          <a:solidFill>
            <a:srgbClr val="FAF6F2"/>
          </a:solidFill>
          <a:ln w="12700">
            <a:solidFill>
              <a:srgbClr val="B7555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3328416"/>
            <a:ext cx="66294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 i="0">
                <a:solidFill>
                  <a:srgbClr val="B75552"/>
                </a:solidFill>
                <a:latin typeface="Arial"/>
              </a:rPr>
              <a:t>PASTE YOUR IMAGE HERE</a:t>
            </a:r>
          </a:p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9A918C"/>
                </a:solidFill>
                <a:latin typeface="Arial"/>
              </a:rPr>
              <a:t>Screenshot / Figma frame / document / photo. Crop tight and blur anything sensitive.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6447" y="1755648"/>
            <a:ext cx="3468319" cy="3913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am I looking at?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Name the artifact and where it lives.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Which value is in here?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Point at the specific pixel, clause, or line.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did it look like before?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the default would have been if you had not done the values work.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Is it live?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Shipped / in review with the host / prototype only / recommendation in a memo.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Ulysse Hennebelle  ·  NYPD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5 of 7  ·  aim for 60 sec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VALUES IN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collided — and what I did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Use the three moves from Chapter 6. Fill the ones that happened to you; delete the ones that did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3454298" cy="566928"/>
          </a:xfrm>
          <a:prstGeom prst="rect">
            <a:avLst/>
          </a:prstGeom>
          <a:solidFill>
            <a:srgbClr val="E1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8D90"/>
                </a:solidFill>
                <a:latin typeface="Arial"/>
              </a:rPr>
              <a:t>DISSOLVED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Redesigned so the conflict went away — both values fully honoured.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made it dissolvable?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75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68698" y="1755648"/>
            <a:ext cx="3454298" cy="566928"/>
          </a:xfrm>
          <a:prstGeom prst="rect">
            <a:avLst/>
          </a:prstGeom>
          <a:solidFill>
            <a:srgbClr val="F3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815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75552"/>
                </a:solidFill>
                <a:latin typeface="Arial"/>
              </a:rPr>
              <a:t>COMPROMISED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15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Both values partly satisfied; neither got everything.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did each value give up?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0468" y="1755648"/>
            <a:ext cx="3454298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A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70468" y="1755648"/>
            <a:ext cx="3454298" cy="566928"/>
          </a:xfrm>
          <a:prstGeom prst="rect">
            <a:avLst/>
          </a:prstGeom>
          <a:solidFill>
            <a:srgbClr val="F2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9924" y="1755648"/>
            <a:ext cx="30153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0764F"/>
                </a:solidFill>
                <a:latin typeface="Arial"/>
              </a:rPr>
              <a:t>TRADED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924" y="2468880"/>
            <a:ext cx="301538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000" b="0" i="1">
                <a:solidFill>
                  <a:srgbClr val="5D5450"/>
                </a:solidFill>
                <a:latin typeface="Arial"/>
              </a:rPr>
              <a:t>One value explicitly prioritized over another.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Which values collided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Value A vs. Value B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 did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50" b="0" i="1">
                <a:solidFill>
                  <a:srgbClr val="9A918C"/>
                </a:solidFill>
                <a:latin typeface="Arial"/>
              </a:rPr>
              <a:t>The concrete move.</a:t>
            </a:r>
          </a:p>
          <a:p>
            <a:pPr algn="l"/>
            <a:r>
              <a:rPr sz="1050" b="1" i="0">
                <a:solidFill>
                  <a:srgbClr val="221C1B"/>
                </a:solidFill>
                <a:latin typeface="Arial"/>
              </a:rPr>
              <a:t>What is the cost, and who pays it?</a:t>
            </a:r>
          </a:p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9A918C"/>
                </a:solidFill>
                <a:latin typeface="Arial"/>
              </a:rPr>
              <a:t>Be specific.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Ulysse Hennebelle  ·  NYPD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6 of 7  ·  aim for 60 sec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75552"/>
                </a:solidFill>
                <a:latin typeface="Arial"/>
              </a:rPr>
              <a:t>THE FRAMEWORK, AND WHAT HAPPENS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1C1B"/>
                </a:solidFill>
                <a:latin typeface="Georgia"/>
              </a:rPr>
              <a:t>What the framework did, and what I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5450"/>
                </a:solidFill>
                <a:latin typeface="Arial"/>
              </a:rPr>
              <a:t>Be candid on the left. Be concrete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300319" cy="3794760"/>
          </a:xfrm>
          <a:prstGeom prst="rect">
            <a:avLst/>
          </a:prstGeom>
          <a:solidFill>
            <a:srgbClr val="FAF6F2"/>
          </a:solidFill>
          <a:ln w="9525">
            <a:solidFill>
              <a:srgbClr val="D8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75552"/>
                </a:solidFill>
                <a:latin typeface="Arial"/>
              </a:rPr>
              <a:t>THE FRAMEWORK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my thinking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The moment it gave you a word, a reason, or an argument you did not have before.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changed the artifact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Naming something and building something differently are two different wins. Which did you get?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Where it did not help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Too late in the project? Too abstract for your host? Missing the people most affected? Say so — this is genuinely useful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55648"/>
            <a:ext cx="5300319" cy="3794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D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324447" y="1755648"/>
            <a:ext cx="5300319" cy="91440"/>
          </a:xfrm>
          <a:prstGeom prst="rect">
            <a:avLst/>
          </a:prstGeom>
          <a:solidFill>
            <a:srgbClr val="2F8D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0479" y="2029968"/>
            <a:ext cx="4788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D90"/>
                </a:solidFill>
                <a:latin typeface="Arial"/>
              </a:rPr>
              <a:t>VERIFICATION &amp; NEXT STEPS</a:t>
            </a:r>
          </a:p>
          <a:p>
            <a:pPr algn="l"/>
            <a:r>
              <a:rPr sz="400" b="0" i="0">
                <a:solidFill>
                  <a:srgbClr val="221C1B"/>
                </a:solidFill>
                <a:latin typeface="Arial"/>
              </a:rPr>
              <a:t/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How would I check the values actually landed?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A test, a metric, a review, someone to ask. Who would have to look, and at what?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am handing over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00" b="0" i="1">
                <a:solidFill>
                  <a:srgbClr val="9A918C"/>
                </a:solidFill>
                <a:latin typeface="Arial"/>
              </a:rPr>
              <a:t>What stays with your host organization after August, and who owns it.</a:t>
            </a:r>
          </a:p>
          <a:p>
            <a:pPr algn="l"/>
            <a:r>
              <a:rPr sz="1100" b="1" i="0">
                <a:solidFill>
                  <a:srgbClr val="221C1B"/>
                </a:solidFill>
                <a:latin typeface="Arial"/>
              </a:rPr>
              <a:t>What I carry into my own research</a:t>
            </a:r>
          </a:p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9A918C"/>
                </a:solidFill>
                <a:latin typeface="Arial"/>
              </a:rPr>
              <a:t>One thing you will do differently in your next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126480"/>
            <a:ext cx="11057839" cy="9525"/>
          </a:xfrm>
          <a:prstGeom prst="rect">
            <a:avLst/>
          </a:prstGeom>
          <a:solidFill>
            <a:srgbClr val="D8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272784"/>
            <a:ext cx="6634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918C"/>
                </a:solidFill>
                <a:latin typeface="Arial"/>
              </a:rPr>
              <a:t>Ulysse Hennebelle  ·  NYPD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272784"/>
            <a:ext cx="44231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918C"/>
                </a:solidFill>
                <a:latin typeface="Arial"/>
              </a:rPr>
              <a:t>7 of 7  ·  aim for 60 sec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