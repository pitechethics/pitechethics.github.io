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slide. Delete before presenting if you would rather not spend session time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seconds. Say your name, the org, and what the thing is — then move on. The values work is what the other six slides are for; do not spend your five minutes on a project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seconds. Two values done well beats four done thinly — delete the third card if you only committed to two. The 'where it came from' line matters: it is the difference between a value you discovered and a value you assumed. If you introduced a value nobody at the org asked for, say so — that is a real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This is the operationalization slide — the one that answers 'what did you actually do about it'. Keep the middle column at the level of a requirement ('the system must not store X') and the third column at the level of a change ('removed the X field from the intake form'). Be strict with the status column: 'Planned only' is a perfectly good answer and we would much rather hear it than discover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 and the most important slide in your five minutes. Put the artifact on screen and talk over it. If you have a before/after, show both. Screenshots from Figma, your repo, your host's system, a rubric, a memo, or a photo of the workshop wall all count. Blur anything your host would not want on a shared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 Duplicate this slide for a third artifact, or delete it if one was enough. Whatever you keep, the whole talk still has to land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Dissolution is rare and worth dwelling on if you managed one. Most real projects land on compromise or trade-off, and naming the cost out loud is the point of the exercise — a trade-off you can state is a trade-off someone else can contest. If nothing conflicted, say that and say why you think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seconds, and please be honest on the left half. 'It helped me name something but did not change the build' is a finding we want, not a disappointment. Last year's cohort told us the framework would have done more for them if it had arrived earlier — if that is true for you too, say it here. On the right, name a check someone could actually run, not an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seconds. Say your name, the org, and what the thing is — then move on. The values work is what the other six slides are for; do not spend your five minutes on a project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seconds. Two values done well beats four done thinly — delete the third card if you only committed to two. The 'where it came from' line matters: it is the difference between a value you discovered and a value you assumed. If you introduced a value nobody at the org asked for, say so — that is a real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This is the operationalization slide — the one that answers 'what did you actually do about it'. Keep the middle column at the level of a requirement ('the system must not store X') and the third column at the level of a change ('removed the X field from the intake form'). Be strict with the status column: 'Planned only' is a perfectly good answer and we would much rather hear it than discover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 and the most important slide in your five minutes. Put the artifact on screen and talk over it. If you have a before/after, show both. Screenshots from Figma, your repo, your host's system, a rubric, a memo, or a photo of the workshop wall all count. Blur anything your host would not want on a shared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 Duplicate this slide for a third artifact, or delete it if one was enough. Whatever you keep, the whole talk still has to land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Dissolution is rare and worth dwelling on if you managed one. Most real projects land on compromise or trade-off, and naming the cost out loud is the point of the exercise — a trade-off you can state is a trade-off someone else can contest. If nothing conflicted, say that and say why you think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seconds, and please be honest on the left half. 'It helped me name something but did not change the build' is a finding we want, not a disappointment. Last year's cohort told us the framework would have done more for them if it had arrived earlier — if that is true for you too, say it here. On the right, name a check someone could actually run, not an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seconds. Say your name, the org, and what the thing is — then move on. The values work is what the other six slides are for; do not spend your five minutes on a project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seconds. Two values done well beats four done thinly — delete the third card if you only committed to two. The 'where it came from' line matters: it is the difference between a value you discovered and a value you assumed. If you introduced a value nobody at the org asked for, say so — that is a real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This is the operationalization slide — the one that answers 'what did you actually do about it'. Keep the middle column at the level of a requirement ('the system must not store X') and the third column at the level of a change ('removed the X field from the intake form'). Be strict with the status column: 'Planned only' is a perfectly good answer and we would much rather hear it than discover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 and the most important slide in your five minutes. Put the artifact on screen and talk over it. If you have a before/after, show both. Screenshots from Figma, your repo, your host's system, a rubric, a memo, or a photo of the workshop wall all count. Blur anything your host would not want on a shared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 Duplicate this slide for a third artifact, or delete it if one was enough. Whatever you keep, the whole talk still has to land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Dissolution is rare and worth dwelling on if you managed one. Most real projects land on compromise or trade-off, and naming the cost out loud is the point of the exercise — a trade-off you can state is a trade-off someone else can contest. If nothing conflicted, say that and say why you think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seconds, and please be honest on the left half. 'It helped me name something but did not change the build' is a finding we want, not a disappointment. Last year's cohort told us the framework would have done more for them if it had arrived earlier — if that is true for you too, say it here. On the right, name a check someone could actually run, not an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seconds. Say your name, the org, and what the thing is — then move on. The values work is what the other six slides are for; do not spend your five minutes on a project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seconds. Two values done well beats four done thinly — delete the third card if you only committed to two. The 'where it came from' line matters: it is the difference between a value you discovered and a value you assumed. If you introduced a value nobody at the org asked for, say so — that is a real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This is the operationalization slide — the one that answers 'what did you actually do about it'. Keep the middle column at the level of a requirement ('the system must not store X') and the third column at the level of a change ('removed the X field from the intake form'). Be strict with the status column: 'Planned only' is a perfectly good answer and we would much rather hear it than discover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 and the most important slide in your five minutes. Put the artifact on screen and talk over it. If you have a before/after, show both. Screenshots from Figma, your repo, your host's system, a rubric, a memo, or a photo of the workshop wall all count. Blur anything your host would not want on a shared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 Duplicate this slide for a third artifact, or delete it if one was enough. Whatever you keep, the whole talk still has to land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Dissolution is rare and worth dwelling on if you managed one. Most real projects land on compromise or trade-off, and naming the cost out loud is the point of the exercise — a trade-off you can state is a trade-off someone else can contest. If nothing conflicted, say that and say why you think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seconds, and please be honest on the left half. 'It helped me name something but did not change the build' is a finding we want, not a disappointment. Last year's cohort told us the framework would have done more for them if it had arrived earlier — if that is true for you too, say it here. On the right, name a check someone could actually run, not an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seconds. Say your name, the org, and what the thing is — then move on. The values work is what the other six slides are for; do not spend your five minutes on a project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seconds. Two values done well beats four done thinly — delete the third card if you only committed to two. The 'where it came from' line matters: it is the difference between a value you discovered and a value you assumed. If you introduced a value nobody at the org asked for, say so — that is a real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This is the operationalization slide — the one that answers 'what did you actually do about it'. Keep the middle column at the level of a requirement ('the system must not store X') and the third column at the level of a change ('removed the X field from the intake form'). Be strict with the status column: 'Planned only' is a perfectly good answer and we would much rather hear it than discover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 and the most important slide in your five minutes. Put the artifact on screen and talk over it. If you have a before/after, show both. Screenshots from Figma, your repo, your host's system, a rubric, a memo, or a photo of the workshop wall all count. Blur anything your host would not want on a shared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 Duplicate this slide for a third artifact, or delete it if one was enough. Whatever you keep, the whole talk still has to land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Dissolution is rare and worth dwelling on if you managed one. Most real projects land on compromise or trade-off, and naming the cost out loud is the point of the exercise — a trade-off you can state is a trade-off someone else can contest. If nothing conflicted, say that and say why you think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seconds, and please be honest on the left half. 'It helped me name something but did not change the build' is a finding we want, not a disappointment. Last year's cohort told us the framework would have done more for them if it had arrived earlier — if that is true for you too, say it here. On the right, name a check someone could actually run, not an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seconds. Say your name, the org, and what the thing is — then move on. The values work is what the other six slides are for; do not spend your five minutes on a project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seconds. Two values done well beats four done thinly — delete the third card if you only committed to two. The 'where it came from' line matters: it is the difference between a value you discovered and a value you assumed. If you introduced a value nobody at the org asked for, say so — that is a real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This is the operationalization slide — the one that answers 'what did you actually do about it'. Keep the middle column at the level of a requirement ('the system must not store X') and the third column at the level of a change ('removed the X field from the intake form'). Be strict with the status column: 'Planned only' is a perfectly good answer and we would much rather hear it than discover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 and the most important slide in your five minutes. Put the artifact on screen and talk over it. If you have a before/after, show both. Screenshots from Figma, your repo, your host's system, a rubric, a memo, or a photo of the workshop wall all count. Blur anything your host would not want on a shared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 Duplicate this slide for a third artifact, or delete it if one was enough. Whatever you keep, the whole talk still has to land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Dissolution is rare and worth dwelling on if you managed one. Most real projects land on compromise or trade-off, and naming the cost out loud is the point of the exercise — a trade-off you can state is a trade-off someone else can contest. If nothing conflicted, say that and say why you think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seconds, and please be honest on the left half. 'It helped me name something but did not change the build' is a finding we want, not a disappointment. Last year's cohort told us the framework would have done more for them if it had arrived earlier — if that is true for you too, say it here. On the right, name a check someone could actually run, not an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seconds. Say your name, the org, and what the thing is — then move on. The values work is what the other six slides are for; do not spend your five minutes on a project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seconds. Two values done well beats four done thinly — delete the third card if you only committed to two. The 'where it came from' line matters: it is the difference between a value you discovered and a value you assumed. If you introduced a value nobody at the org asked for, say so — that is a real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This is the operationalization slide — the one that answers 'what did you actually do about it'. Keep the middle column at the level of a requirement ('the system must not store X') and the third column at the level of a change ('removed the X field from the intake form'). Be strict with the status column: 'Planned only' is a perfectly good answer and we would much rather hear it than discover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 and the most important slide in your five minutes. Put the artifact on screen and talk over it. If you have a before/after, show both. Screenshots from Figma, your repo, your host's system, a rubric, a memo, or a photo of the workshop wall all count. Blur anything your host would not want on a shared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 Duplicate this slide for a third artifact, or delete it if one was enough. Whatever you keep, the whole talk still has to land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Dissolution is rare and worth dwelling on if you managed one. Most real projects land on compromise or trade-off, and naming the cost out loud is the point of the exercise — a trade-off you can state is a trade-off someone else can contest. If nothing conflicted, say that and say why you think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seconds, and please be honest on the left half. 'It helped me name something but did not change the build' is a finding we want, not a disappointment. Last year's cohort told us the framework would have done more for them if it had arrived earlier — if that is true for you too, say it here. On the right, name a check someone could actually run, not an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seconds. Say your name, the org, and what the thing is — then move on. The values work is what the other six slides are for; do not spend your five minutes on a project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seconds. Two values done well beats four done thinly — delete the third card if you only committed to two. The 'where it came from' line matters: it is the difference between a value you discovered and a value you assumed. If you introduced a value nobody at the org asked for, say so — that is a real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This is the operationalization slide — the one that answers 'what did you actually do about it'. Keep the middle column at the level of a requirement ('the system must not store X') and the third column at the level of a change ('removed the X field from the intake form'). Be strict with the status column: 'Planned only' is a perfectly good answer and we would much rather hear it than discover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 and the most important slide in your five minutes. Put the artifact on screen and talk over it. If you have a before/after, show both. Screenshots from Figma, your repo, your host's system, a rubric, a memo, or a photo of the workshop wall all count. Blur anything your host would not want on a shared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 Duplicate this slide for a third artifact, or delete it if one was enough. Whatever you keep, the whole talk still has to land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Dissolution is rare and worth dwelling on if you managed one. Most real projects land on compromise or trade-off, and naming the cost out loud is the point of the exercise — a trade-off you can state is a trade-off someone else can contest. If nothing conflicted, say that and say why you think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seconds, and please be honest on the left half. 'It helped me name something but did not change the build' is a finding we want, not a disappointment. Last year's cohort told us the framework would have done more for them if it had arrived earlier — if that is true for you too, say it here. On the right, name a check someone could actually run, not an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seconds. Say your name, the org, and what the thing is — then move on. The values work is what the other six slides are for; do not spend your five minutes on a project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seconds. Two values done well beats four done thinly — delete the third card if you only committed to two. The 'where it came from' line matters: it is the difference between a value you discovered and a value you assumed. If you introduced a value nobody at the org asked for, say so — that is a real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This is the operationalization slide — the one that answers 'what did you actually do about it'. Keep the middle column at the level of a requirement ('the system must not store X') and the third column at the level of a change ('removed the X field from the intake form'). Be strict with the status column: 'Planned only' is a perfectly good answer and we would much rather hear it than discover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 and the most important slide in your five minutes. Put the artifact on screen and talk over it. If you have a before/after, show both. Screenshots from Figma, your repo, your host's system, a rubric, a memo, or a photo of the workshop wall all count. Blur anything your host would not want on a shared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 Duplicate this slide for a third artifact, or delete it if one was enough. Whatever you keep, the whole talk still has to land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Dissolution is rare and worth dwelling on if you managed one. Most real projects land on compromise or trade-off, and naming the cost out loud is the point of the exercise — a trade-off you can state is a trade-off someone else can contest. If nothing conflicted, say that and say why you think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seconds, and please be honest on the left half. 'It helped me name something but did not change the build' is a finding we want, not a disappointment. Last year's cohort told us the framework would have done more for them if it had arrived earlier — if that is true for you too, say it here. On the right, name a check someone could actually run, not an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seconds. Say your name, the org, and what the thing is — then move on. The values work is what the other six slides are for; do not spend your five minutes on a project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seconds. Two values done well beats four done thinly — delete the third card if you only committed to two. The 'where it came from' line matters: it is the difference between a value you discovered and a value you assumed. If you introduced a value nobody at the org asked for, say so — that is a real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This is the operationalization slide — the one that answers 'what did you actually do about it'. Keep the middle column at the level of a requirement ('the system must not store X') and the third column at the level of a change ('removed the X field from the intake form'). Be strict with the status column: 'Planned only' is a perfectly good answer and we would much rather hear it than discover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 and the most important slide in your five minutes. Put the artifact on screen and talk over it. If you have a before/after, show both. Screenshots from Figma, your repo, your host's system, a rubric, a memo, or a photo of the workshop wall all count. Blur anything your host would not want on a shared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 Duplicate this slide for a third artifact, or delete it if one was enough. Whatever you keep, the whole talk still has to land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seconds. Dissolution is rare and worth dwelling on if you managed one. Most real projects land on compromise or trade-off, and naming the cost out loud is the point of the exercise — a trade-off you can state is a trade-off someone else can contest. If nothing conflicted, say that and say why you think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seconds, and please be honest on the left half. 'It helped me name something but did not change the build' is a finding we want, not a disappointment. Last year's cohort told us the framework would have done more for them if it had arrived earlier — if that is true for you too, say it here. On the right, name a check someone could actually run, not an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F2D2A"/>
                </a:solidFill>
                <a:latin typeface="Arial"/>
              </a:rPr>
              <a:t>DLI CONSCIENTIOUS TECH DESIGN WORKSHOP 2026  ·  FINAL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19072"/>
            <a:ext cx="984355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7200" b="1" i="0">
                <a:solidFill>
                  <a:srgbClr val="1A1514"/>
                </a:solidFill>
                <a:latin typeface="Georgia"/>
              </a:rPr>
              <a:t>Values in Practice</a:t>
            </a:r>
          </a:p>
          <a:p>
            <a:pPr algn="l">
              <a:lnSpc>
                <a:spcPct val="115000"/>
              </a:lnSpc>
            </a:pPr>
            <a:r>
              <a:rPr sz="2500" b="0" i="1">
                <a:solidFill>
                  <a:srgbClr val="8F2D2A"/>
                </a:solidFill>
                <a:latin typeface="Georgia"/>
              </a:rPr>
              <a:t>What we actually did with the values we committed 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2194560" cy="381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462272"/>
            <a:ext cx="1006726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 i="0">
                <a:solidFill>
                  <a:srgbClr val="1A1514"/>
                </a:solidFill>
                <a:latin typeface="Arial"/>
              </a:rPr>
              <a:t>Ten Siegel PiTech PhD Impact Fellows  ·  Five minutes each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453D3A"/>
                </a:solidFill>
                <a:latin typeface="Arial"/>
              </a:rPr>
              <a:t>Monday, August 17  ·  Cornell Tech + Zoom</a:t>
            </a:r>
          </a:p>
          <a:p>
            <a:pPr algn="l"/>
            <a:r>
              <a:rPr sz="1400" b="0" i="0">
                <a:solidFill>
                  <a:srgbClr val="665C57"/>
                </a:solidFill>
                <a:latin typeface="Arial"/>
              </a:rPr>
              <a:t>Digital Life Initiative × Public Interest Technology, Cornell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WE ARE ASKING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Five minutes on how you put values to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Not a project overview — we already know your project. Spend the whole five minutes on the values work, and show us the artifacts.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1965960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82296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2103120"/>
            <a:ext cx="303367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8F2D2A"/>
                </a:solidFill>
                <a:latin typeface="Georgia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A1514"/>
                </a:solidFill>
                <a:latin typeface="Arial"/>
              </a:rPr>
              <a:t>Who you are, where you worked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Name, host organization, one line on what you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266" y="1847088"/>
            <a:ext cx="3509162" cy="1965960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82296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9010" y="2103120"/>
            <a:ext cx="303367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8F2D2A"/>
                </a:solidFill>
                <a:latin typeface="Georgia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A1514"/>
                </a:solidFill>
                <a:latin typeface="Arial"/>
              </a:rPr>
              <a:t>The values you committed to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Two to four. Named, defined in your words, traced to Discovery.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9612" y="1847088"/>
            <a:ext cx="3509162" cy="1965960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79612" y="1847088"/>
            <a:ext cx="3509162" cy="82296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7356" y="2103120"/>
            <a:ext cx="303367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8F2D2A"/>
                </a:solidFill>
                <a:latin typeface="Georgia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A1514"/>
                </a:solidFill>
                <a:latin typeface="Arial"/>
              </a:rPr>
              <a:t>What you did about them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Each value → the requirement → the change. Shipped, or still a plan?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32504"/>
            <a:ext cx="3509162" cy="1965960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02920" y="4032504"/>
            <a:ext cx="3509162" cy="82296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0664" y="4288536"/>
            <a:ext cx="303367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8F2D2A"/>
                </a:solidFill>
                <a:latin typeface="Georgia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A1514"/>
                </a:solidFill>
                <a:latin typeface="Arial"/>
              </a:rPr>
              <a:t>The artifacts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Screenshots, Figma frames, rubrics, docs, photos. The main event.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1266" y="4032504"/>
            <a:ext cx="3509162" cy="1965960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41266" y="4032504"/>
            <a:ext cx="3509162" cy="82296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9010" y="4288536"/>
            <a:ext cx="303367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8F2D2A"/>
                </a:solidFill>
                <a:latin typeface="Georgia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A1514"/>
                </a:solidFill>
                <a:latin typeface="Arial"/>
              </a:rPr>
              <a:t>Where values collided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What you dissolved, what you compromised, what you traded off.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9612" y="4032504"/>
            <a:ext cx="3509162" cy="1965960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79612" y="4032504"/>
            <a:ext cx="3509162" cy="82296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7356" y="4288536"/>
            <a:ext cx="303367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8F2D2A"/>
                </a:solidFill>
                <a:latin typeface="Georgia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A1514"/>
                </a:solidFill>
                <a:latin typeface="Arial"/>
              </a:rPr>
              <a:t>Framework and next steps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Where it helped and where it did not. How you would verify.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8F2D2A"/>
                </a:solidFill>
                <a:latin typeface="Arial"/>
              </a:rPr>
              <a:t>Five minutes is short and there are ten of you — we will hold the time. Rehearse it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HOW TO USE THIS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Fill in your seven slides, leave the rest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Your section is already labelled with your name and host organization. Grey italic text is a placeholder — click it and type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52728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A1514"/>
                </a:solidFill>
                <a:latin typeface="Arial"/>
              </a:rPr>
              <a:t>Work only in your own section.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Scroll to the slide with your name on it. The six slides after it are yours. Please leave everyone else's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52728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A1514"/>
                </a:solidFill>
                <a:latin typeface="Arial"/>
              </a:rPr>
              <a:t>Overwrite the grey italics.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Grey italic = a prompt for you. Black = a heading to keep. If a prompt does not apply, delete the line rather than leave it blank.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36592"/>
            <a:ext cx="52728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A1514"/>
                </a:solidFill>
                <a:latin typeface="Arial"/>
              </a:rPr>
              <a:t>Replace the dashed boxes with images.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Click the dashed box, delete it, then Insert → Image. Figma frames, screenshots, and June workshop photos all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1847088"/>
            <a:ext cx="52728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A1514"/>
                </a:solidFill>
                <a:latin typeface="Arial"/>
              </a:rPr>
              <a:t>Need more room? Duplicate.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Right-click → Duplicate slide for a third artifact; delete the second if one was enough. Speaker notes are yours and are not timed.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3291840"/>
            <a:ext cx="52728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A1514"/>
                </a:solidFill>
                <a:latin typeface="Arial"/>
              </a:rPr>
              <a:t>Nothing confidential.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Blur, crop, or mock up anything your host would not want on a shared screen. Names, case data, credentials — check before you paste.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5887" y="4736592"/>
            <a:ext cx="52728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A1514"/>
                </a:solidFill>
                <a:latin typeface="Arial"/>
              </a:rPr>
              <a:t>"Planned" is a real answer.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One honest "designed but not shipped" beats a slide implying more landed than did. Say which is which.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A STRONG SLIDE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Specific, evidenced, honest about the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Same three prompts, answered two ways. The right-hand column is what we are looking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847088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65C57"/>
                </a:solidFill>
                <a:latin typeface="Arial"/>
              </a:rPr>
              <a:t>TOO THIN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847088"/>
            <a:ext cx="48764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6669"/>
                </a:solidFill>
                <a:latin typeface="Arial"/>
              </a:rPr>
              <a:t>WHAT WE WANT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2231136"/>
            <a:ext cx="3429000" cy="120700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12280" y="2231136"/>
            <a:ext cx="4876495" cy="1207008"/>
          </a:xfrm>
          <a:prstGeom prst="rect">
            <a:avLst/>
          </a:prstGeom>
          <a:solidFill>
            <a:srgbClr val="DCEDED"/>
          </a:solidFill>
          <a:ln w="19050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224028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50" b="1" i="0">
                <a:solidFill>
                  <a:srgbClr val="1A1514"/>
                </a:solidFill>
                <a:latin typeface="Arial"/>
              </a:rPr>
              <a:t>Naming a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2377440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"We cared about privacy."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1736" y="2377440"/>
            <a:ext cx="443758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A1514"/>
                </a:solidFill>
                <a:latin typeface="Arial"/>
              </a:rPr>
              <a:t>"Confidentiality — a care worker sees the alert without seeing the resident's room. From the org's HIPAA language and two staff I shadowed."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3621024"/>
            <a:ext cx="3429000" cy="120700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812280" y="3621024"/>
            <a:ext cx="4876495" cy="1207008"/>
          </a:xfrm>
          <a:prstGeom prst="rect">
            <a:avLst/>
          </a:prstGeom>
          <a:solidFill>
            <a:srgbClr val="DCEDED"/>
          </a:solidFill>
          <a:ln w="19050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2920" y="3675887"/>
            <a:ext cx="224028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50" b="1" i="0">
                <a:solidFill>
                  <a:srgbClr val="1A1514"/>
                </a:solidFill>
                <a:latin typeface="Arial"/>
              </a:rPr>
              <a:t>Showing the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3767328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"I added privacy features."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3767328"/>
            <a:ext cx="443758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A1514"/>
                </a:solidFill>
                <a:latin typeface="Arial"/>
              </a:rPr>
              <a:t>"The alert card now shows a posture icon, not a video frame. Before/after on the right. Merged July 22."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5010912"/>
            <a:ext cx="3429000" cy="120700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812280" y="5010912"/>
            <a:ext cx="4876495" cy="1207008"/>
          </a:xfrm>
          <a:prstGeom prst="rect">
            <a:avLst/>
          </a:prstGeom>
          <a:solidFill>
            <a:srgbClr val="DCEDED"/>
          </a:solidFill>
          <a:ln w="19050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920" y="5065776"/>
            <a:ext cx="224028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50" b="1" i="0">
                <a:solidFill>
                  <a:srgbClr val="1A1514"/>
                </a:solidFill>
                <a:latin typeface="Arial"/>
              </a:rPr>
              <a:t>Handling a conflict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5157216"/>
            <a:ext cx="302666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"Safety and privacy were in tension."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1736" y="5157216"/>
            <a:ext cx="443758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A1514"/>
                </a:solidFill>
                <a:latin typeface="Arial"/>
              </a:rPr>
              <a:t>"Traded off: staff alerted first, resident second. Cost: they learn of an escalation after someone else. We chose it knowingly."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65C57"/>
                </a:solidFill>
                <a:latin typeface="Arial"/>
              </a:rPr>
              <a:t>The example above is invented — it is not anyone's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COMPLETING THE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Four things — only one of them is these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The slides are Monday. The rest is what closes out your participation in the 2026 Conscientious Tech Design Workshop.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2590723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2590723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04088" y="2176272"/>
            <a:ext cx="1783080" cy="310896"/>
          </a:xfrm>
          <a:prstGeom prst="round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2176272"/>
            <a:ext cx="1783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F2D2A"/>
                </a:solidFill>
                <a:latin typeface="Arial"/>
              </a:rPr>
              <a:t>DO THIS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70048"/>
            <a:ext cx="2188387" cy="327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800" b="1" i="0">
                <a:solidFill>
                  <a:srgbClr val="1A1514"/>
                </a:solidFill>
                <a:latin typeface="Georgia"/>
              </a:rPr>
              <a:t>Your Figma canvas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Discovery and Implementation filled in — Verification too if you went that route. If you are behind, finish it before the slides.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7963" y="1847088"/>
            <a:ext cx="2590723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367963" y="1847088"/>
            <a:ext cx="2590723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569131" y="2176272"/>
            <a:ext cx="1783080" cy="310896"/>
          </a:xfrm>
          <a:prstGeom prst="round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69131" y="2176272"/>
            <a:ext cx="1783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F2D2A"/>
                </a:solidFill>
                <a:latin typeface="Arial"/>
              </a:rPr>
              <a:t>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9131" y="2670048"/>
            <a:ext cx="2188387" cy="327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800" b="1" i="0">
                <a:solidFill>
                  <a:srgbClr val="1A1514"/>
                </a:solidFill>
                <a:latin typeface="Georgia"/>
              </a:rPr>
              <a:t>Both 1:1 check-ins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If you have had only one, book the second with Hauke or Jae June this week. We cannot sign off without both.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1847088"/>
            <a:ext cx="2590723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33007" y="1847088"/>
            <a:ext cx="2590723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434175" y="2176272"/>
            <a:ext cx="1783080" cy="310896"/>
          </a:xfrm>
          <a:prstGeom prst="round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34175" y="2176272"/>
            <a:ext cx="1783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F2D2A"/>
                </a:solidFill>
                <a:latin typeface="Arial"/>
              </a:rPr>
              <a:t>DUE MONDAY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4175" y="2670048"/>
            <a:ext cx="2188387" cy="327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800" b="1" i="0">
                <a:solidFill>
                  <a:srgbClr val="1A1514"/>
                </a:solidFill>
                <a:latin typeface="Georgia"/>
              </a:rPr>
              <a:t>These five minutes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Fill in the seven slides in your section before the session starts. We present straight from this deck.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051" y="1847088"/>
            <a:ext cx="2590723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098051" y="1847088"/>
            <a:ext cx="2590723" cy="118872"/>
          </a:xfrm>
          <a:prstGeom prst="rect">
            <a:avLst/>
          </a:prstGeom>
          <a:solidFill>
            <a:srgbClr val="2F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299219" y="2176272"/>
            <a:ext cx="1783080" cy="310896"/>
          </a:xfrm>
          <a:prstGeom prst="round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99219" y="2176272"/>
            <a:ext cx="1783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B6669"/>
                </a:solidFill>
                <a:latin typeface="Arial"/>
              </a:rPr>
              <a:t>NOT DUE MONDAY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219" y="2670048"/>
            <a:ext cx="2188387" cy="327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800" b="1" i="0">
                <a:solidFill>
                  <a:srgbClr val="1A1514"/>
                </a:solidFill>
                <a:latin typeface="Georgia"/>
              </a:rPr>
              <a:t>The reflective write-up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453D3A"/>
                </a:solidFill>
                <a:latin typeface="Arial"/>
              </a:rPr>
              <a:t>In the template shared separately. Not due for the session — but it is the same material in longer form, so it makes the slides easier.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65C57"/>
                </a:solidFill>
                <a:latin typeface="Arial"/>
              </a:rPr>
              <a:t>Links to the Figma canvas and the write-up template are in the email — paste them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960120"/>
            <a:ext cx="62640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F2D2A"/>
                </a:solidFill>
                <a:latin typeface="Arial"/>
              </a:rPr>
              <a:t>VALUES IN PRACTICE  ·  PITECH FELLOW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53312"/>
            <a:ext cx="64877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1A1514"/>
                </a:solidFill>
                <a:latin typeface="Georgia"/>
              </a:rPr>
              <a:t>Alaa Daffalla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88920"/>
            <a:ext cx="64877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8F2D2A"/>
                </a:solidFill>
                <a:latin typeface="Georgia"/>
              </a:rPr>
              <a:t>Maimonides Medical 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3529584"/>
            <a:ext cx="1828800" cy="381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822191"/>
            <a:ext cx="62640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worked on this summer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sentence. The thing itself — you have six more slides for the values.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My role in it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Designer? Analyst? The person who wrote the model? What you personally had your hands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6291" y="960120"/>
            <a:ext cx="4362483" cy="3703320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611" y="2354580"/>
            <a:ext cx="38138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You with your host-organization team, or a photo from the June workshop. Optional but nice.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6291" y="4892040"/>
            <a:ext cx="43624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Who I worked with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Names and roles of the people at Maimonides.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Alaa Daffalla  ·  Maimonides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1 of 7  ·  aim for 30 sec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DISCOVERY  → 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values I committed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Two to four values, straight off your Figma Discovery canvas — including any you brought yourself as the PiTech Fellow.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1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9010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2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79612" y="1847088"/>
            <a:ext cx="3509162" cy="118872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7356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3 (OPTIONAL)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Alaa Daffalla  ·  Maimonides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2 of 7  ·  aim for 45 sec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How I operationalized each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Value → the requirement it produced → what actually changed. Mark honestly whether it shipped or stayed a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184708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IT DEMANDED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9592" y="184708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 ACTUALLY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5247" y="184708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11185855" cy="22225"/>
          </a:xfrm>
          <a:prstGeom prst="rect">
            <a:avLst/>
          </a:prstGeom>
          <a:solidFill>
            <a:srgbClr val="1A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" y="2340864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2212848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61488" y="2340864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2212848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44183" y="2340864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7" y="2212848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94975" y="2322576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64992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" y="3493008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364992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61488" y="3493008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9592" y="3364992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44183" y="3493008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5247" y="3364992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94975" y="3474720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17136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4645152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4517136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761488" y="4645152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9592" y="4517136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44183" y="4645152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7" y="4517136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94975" y="4626864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87568"/>
            <a:ext cx="11185855" cy="420624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22376" y="5687568"/>
            <a:ext cx="1074694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514"/>
                </a:solidFill>
                <a:latin typeface="Arial"/>
              </a:rPr>
              <a:t>Add rows if you have more. If a value produced no change at all, keep the row and say so — that is a finding, not a failure.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Alaa Daffalla  ·  Maimonides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3 of 7  ·  aim for 60 sec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Show it. A screenshot, a Figma frame, a rubric, a diff, a document, a photo of the wall. Talk us through what we are looking 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Alaa Daffalla  ·  Maimonides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4 of 7  ·  aim for 60 sec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A second artifact, a before/after, or a close-up. Duplicate this slide if you need more — delete it if you do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Alaa Daffalla  ·  Maimonides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5 of 7  ·  aim for 60 sec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VALUES IN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collided — and what I did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The three moves from Chapter 6. Fill the ones that happened to you; delete the ones that did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621792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6669"/>
                </a:solidFill>
                <a:latin typeface="Arial"/>
              </a:rPr>
              <a:t>DISSOLVED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Redesigned so the conflict went away — both values fully honoured.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made it dissolvable?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B75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41266" y="1847088"/>
            <a:ext cx="3509162" cy="621792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0722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8F2D2A"/>
                </a:solidFill>
                <a:latin typeface="Arial"/>
              </a:rPr>
              <a:t>COMPROMISED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Both values partly satisfied; neither got everything.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each value give up?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A07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79612" y="1847088"/>
            <a:ext cx="3509162" cy="621792"/>
          </a:xfrm>
          <a:prstGeom prst="rect">
            <a:avLst/>
          </a:prstGeom>
          <a:solidFill>
            <a:srgbClr val="F0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99068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7522F"/>
                </a:solidFill>
                <a:latin typeface="Arial"/>
              </a:rPr>
              <a:t>TRADED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9068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One value explicitly prioritized over another.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is the cost, and who pays it?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Alaa Daffalla  ·  Maimonides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6 of 7  ·  aim for 60 sec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THE FRAMEWORK, AND 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the framework did, and what I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Be candid on the left. Be concrete on the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5364327" cy="4279392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4815687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2D2A"/>
                </a:solidFill>
                <a:latin typeface="Arial"/>
              </a:rPr>
              <a:t>THE FRAMEWORK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my thinking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moment it gave you a word, a reason, or an argument you did not have before.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the artifact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Naming something and building something differently are two different wins. Which did you get?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did not help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Too late? Too abstract for your host? Missing the people most affected? Say so — this is genuinely useful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847088"/>
            <a:ext cx="5364327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847088"/>
            <a:ext cx="5364327" cy="118872"/>
          </a:xfrm>
          <a:prstGeom prst="rect">
            <a:avLst/>
          </a:prstGeom>
          <a:solidFill>
            <a:srgbClr val="2F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98767" y="2212848"/>
            <a:ext cx="4815687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6669"/>
                </a:solidFill>
                <a:latin typeface="Arial"/>
              </a:rPr>
              <a:t>VERIFICATION &amp; NEXT STEPS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How would I check the values actually landed?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A test, a metric, a review, someone to ask. Who looks, and at what?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am handing over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What stays with your host organization after August, and who owns it.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carry into my own research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thing you will do differently next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Alaa Daffalla  ·  Maimonides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7 of 7  ·  aim for 60 sec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960120"/>
            <a:ext cx="62640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F2D2A"/>
                </a:solidFill>
                <a:latin typeface="Arial"/>
              </a:rPr>
              <a:t>VALUES IN PRACTICE  ·  PITECH FELLOW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53312"/>
            <a:ext cx="64877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1A1514"/>
                </a:solidFill>
                <a:latin typeface="Georgia"/>
              </a:rPr>
              <a:t>Daniel Enriquez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88920"/>
            <a:ext cx="64877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8F2D2A"/>
                </a:solidFill>
                <a:latin typeface="Georgia"/>
              </a:rPr>
              <a:t>Center for Family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3529584"/>
            <a:ext cx="1828800" cy="381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822191"/>
            <a:ext cx="62640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worked on this summer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sentence. The thing itself — you have six more slides for the values.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My role in it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Designer? Analyst? The person who wrote the model? What you personally had your hands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6291" y="960120"/>
            <a:ext cx="4362483" cy="3703320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611" y="2354580"/>
            <a:ext cx="38138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You with your host-organization team, or a photo from the June workshop. Optional but nice.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6291" y="4892040"/>
            <a:ext cx="43624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Who I worked with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Names and roles of the people at CFS.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Daniel Enriquez  ·  CFS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1 of 7  ·  aim for 30 sec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DISCOVERY  → 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values I committed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Two to four values, straight off your Figma Discovery canvas — including any you brought yourself as the PiTech Fellow.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1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9010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2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79612" y="1847088"/>
            <a:ext cx="3509162" cy="118872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7356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3 (OPTIONAL)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Daniel Enriquez  ·  CFS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2 of 7  ·  aim for 45 sec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How I operationalized each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Value → the requirement it produced → what actually changed. Mark honestly whether it shipped or stayed a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184708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IT DEMANDED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9592" y="184708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 ACTUALLY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5247" y="184708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11185855" cy="22225"/>
          </a:xfrm>
          <a:prstGeom prst="rect">
            <a:avLst/>
          </a:prstGeom>
          <a:solidFill>
            <a:srgbClr val="1A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" y="2340864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2212848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61488" y="2340864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2212848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44183" y="2340864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7" y="2212848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94975" y="2322576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64992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" y="3493008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364992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61488" y="3493008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9592" y="3364992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44183" y="3493008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5247" y="3364992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94975" y="3474720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17136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4645152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4517136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761488" y="4645152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9592" y="4517136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44183" y="4645152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7" y="4517136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94975" y="4626864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87568"/>
            <a:ext cx="11185855" cy="420624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22376" y="5687568"/>
            <a:ext cx="1074694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514"/>
                </a:solidFill>
                <a:latin typeface="Arial"/>
              </a:rPr>
              <a:t>Add rows if you have more. If a value produced no change at all, keep the row and say so — that is a finding, not a failure.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Daniel Enriquez  ·  CFS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3 of 7  ·  aim for 60 sec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Show it. A screenshot, a Figma frame, a rubric, a diff, a document, a photo of the wall. Talk us through what we are looking 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Daniel Enriquez  ·  CFS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4 of 7  ·  aim for 60 sec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A second artifact, a before/after, or a close-up. Duplicate this slide if you need more — delete it if you do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Daniel Enriquez  ·  CFS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5 of 7  ·  aim for 60 sec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VALUES IN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collided — and what I did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The three moves from Chapter 6. Fill the ones that happened to you; delete the ones that did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621792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6669"/>
                </a:solidFill>
                <a:latin typeface="Arial"/>
              </a:rPr>
              <a:t>DISSOLVED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Redesigned so the conflict went away — both values fully honoured.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made it dissolvable?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B75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41266" y="1847088"/>
            <a:ext cx="3509162" cy="621792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0722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8F2D2A"/>
                </a:solidFill>
                <a:latin typeface="Arial"/>
              </a:rPr>
              <a:t>COMPROMISED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Both values partly satisfied; neither got everything.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each value give up?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A07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79612" y="1847088"/>
            <a:ext cx="3509162" cy="621792"/>
          </a:xfrm>
          <a:prstGeom prst="rect">
            <a:avLst/>
          </a:prstGeom>
          <a:solidFill>
            <a:srgbClr val="F0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99068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7522F"/>
                </a:solidFill>
                <a:latin typeface="Arial"/>
              </a:rPr>
              <a:t>TRADED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9068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One value explicitly prioritized over another.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is the cost, and who pays it?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Daniel Enriquez  ·  CFS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6 of 7  ·  aim for 60 sec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THE FRAMEWORK, AND 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the framework did, and what I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Be candid on the left. Be concrete on the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5364327" cy="4279392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4815687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2D2A"/>
                </a:solidFill>
                <a:latin typeface="Arial"/>
              </a:rPr>
              <a:t>THE FRAMEWORK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my thinking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moment it gave you a word, a reason, or an argument you did not have before.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the artifact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Naming something and building something differently are two different wins. Which did you get?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did not help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Too late? Too abstract for your host? Missing the people most affected? Say so — this is genuinely useful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847088"/>
            <a:ext cx="5364327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847088"/>
            <a:ext cx="5364327" cy="118872"/>
          </a:xfrm>
          <a:prstGeom prst="rect">
            <a:avLst/>
          </a:prstGeom>
          <a:solidFill>
            <a:srgbClr val="2F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98767" y="2212848"/>
            <a:ext cx="4815687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6669"/>
                </a:solidFill>
                <a:latin typeface="Arial"/>
              </a:rPr>
              <a:t>VERIFICATION &amp; NEXT STEPS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How would I check the values actually landed?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A test, a metric, a review, someone to ask. Who looks, and at what?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am handing over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What stays with your host organization after August, and who owns it.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carry into my own research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thing you will do differently next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Daniel Enriquez  ·  CFS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7 of 7  ·  aim for 60 sec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960120"/>
            <a:ext cx="62640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F2D2A"/>
                </a:solidFill>
                <a:latin typeface="Arial"/>
              </a:rPr>
              <a:t>VALUES IN PRACTICE  ·  PITECH FELLOW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53312"/>
            <a:ext cx="64877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1A1514"/>
                </a:solidFill>
                <a:latin typeface="Georgia"/>
              </a:rPr>
              <a:t>Hal Triedman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88920"/>
            <a:ext cx="64877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8F2D2A"/>
                </a:solidFill>
                <a:latin typeface="Georgia"/>
              </a:rPr>
              <a:t>NYC Mayor's Office of Contract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3529584"/>
            <a:ext cx="1828800" cy="381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822191"/>
            <a:ext cx="62640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worked on this summer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sentence. The thing itself — you have six more slides for the values.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My role in it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Designer? Analyst? The person who wrote the model? What you personally had your hands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6291" y="960120"/>
            <a:ext cx="4362483" cy="3703320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611" y="2354580"/>
            <a:ext cx="38138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You with your host-organization team, or a photo from the June workshop. Optional but nice.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6291" y="4892040"/>
            <a:ext cx="43624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Who I worked with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Names and roles of the people at MOCS.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Hal Triedman  ·  MOCS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1 of 7  ·  aim for 30 sec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DISCOVERY  → 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values I committed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Two to four values, straight off your Figma Discovery canvas — including any you brought yourself as the PiTech Fellow.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1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9010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2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79612" y="1847088"/>
            <a:ext cx="3509162" cy="118872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7356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3 (OPTIONAL)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Hal Triedman  ·  MOCS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2 of 7  ·  aim for 45 sec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How I operationalized each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Value → the requirement it produced → what actually changed. Mark honestly whether it shipped or stayed a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184708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IT DEMANDED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9592" y="184708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 ACTUALLY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5247" y="184708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11185855" cy="22225"/>
          </a:xfrm>
          <a:prstGeom prst="rect">
            <a:avLst/>
          </a:prstGeom>
          <a:solidFill>
            <a:srgbClr val="1A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" y="2340864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2212848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61488" y="2340864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2212848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44183" y="2340864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7" y="2212848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94975" y="2322576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64992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" y="3493008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364992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61488" y="3493008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9592" y="3364992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44183" y="3493008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5247" y="3364992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94975" y="3474720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17136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4645152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4517136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761488" y="4645152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9592" y="4517136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44183" y="4645152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7" y="4517136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94975" y="4626864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87568"/>
            <a:ext cx="11185855" cy="420624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22376" y="5687568"/>
            <a:ext cx="1074694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514"/>
                </a:solidFill>
                <a:latin typeface="Arial"/>
              </a:rPr>
              <a:t>Add rows if you have more. If a value produced no change at all, keep the row and say so — that is a finding, not a failure.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Hal Triedman  ·  MOCS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3 of 7  ·  aim for 60 sec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Show it. A screenshot, a Figma frame, a rubric, a diff, a document, a photo of the wall. Talk us through what we are looking 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Hal Triedman  ·  MOCS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4 of 7  ·  aim for 60 sec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A second artifact, a before/after, or a close-up. Duplicate this slide if you need more — delete it if you do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Hal Triedman  ·  MOCS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5 of 7  ·  aim for 60 sec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VALUES IN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collided — and what I did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The three moves from Chapter 6. Fill the ones that happened to you; delete the ones that did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621792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6669"/>
                </a:solidFill>
                <a:latin typeface="Arial"/>
              </a:rPr>
              <a:t>DISSOLVED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Redesigned so the conflict went away — both values fully honoured.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made it dissolvable?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B75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41266" y="1847088"/>
            <a:ext cx="3509162" cy="621792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0722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8F2D2A"/>
                </a:solidFill>
                <a:latin typeface="Arial"/>
              </a:rPr>
              <a:t>COMPROMISED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Both values partly satisfied; neither got everything.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each value give up?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A07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79612" y="1847088"/>
            <a:ext cx="3509162" cy="621792"/>
          </a:xfrm>
          <a:prstGeom prst="rect">
            <a:avLst/>
          </a:prstGeom>
          <a:solidFill>
            <a:srgbClr val="F0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99068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7522F"/>
                </a:solidFill>
                <a:latin typeface="Arial"/>
              </a:rPr>
              <a:t>TRADED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9068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One value explicitly prioritized over another.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is the cost, and who pays it?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Hal Triedman  ·  MOCS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6 of 7  ·  aim for 60 sec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THE FRAMEWORK, AND 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the framework did, and what I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Be candid on the left. Be concrete on the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5364327" cy="4279392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4815687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2D2A"/>
                </a:solidFill>
                <a:latin typeface="Arial"/>
              </a:rPr>
              <a:t>THE FRAMEWORK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my thinking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moment it gave you a word, a reason, or an argument you did not have before.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the artifact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Naming something and building something differently are two different wins. Which did you get?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did not help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Too late? Too abstract for your host? Missing the people most affected? Say so — this is genuinely useful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847088"/>
            <a:ext cx="5364327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847088"/>
            <a:ext cx="5364327" cy="118872"/>
          </a:xfrm>
          <a:prstGeom prst="rect">
            <a:avLst/>
          </a:prstGeom>
          <a:solidFill>
            <a:srgbClr val="2F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98767" y="2212848"/>
            <a:ext cx="4815687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6669"/>
                </a:solidFill>
                <a:latin typeface="Arial"/>
              </a:rPr>
              <a:t>VERIFICATION &amp; NEXT STEPS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How would I check the values actually landed?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A test, a metric, a review, someone to ask. Who looks, and at what?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am handing over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What stays with your host organization after August, and who owns it.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carry into my own research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thing you will do differently next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Hal Triedman  ·  MOCS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7 of 7  ·  aim for 60 sec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960120"/>
            <a:ext cx="62640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F2D2A"/>
                </a:solidFill>
                <a:latin typeface="Arial"/>
              </a:rPr>
              <a:t>VALUES IN PRACTICE  ·  PITECH FELLOW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53312"/>
            <a:ext cx="64877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1A1514"/>
                </a:solidFill>
                <a:latin typeface="Georgia"/>
              </a:rPr>
              <a:t>Isabel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88920"/>
            <a:ext cx="64877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8F2D2A"/>
                </a:solidFill>
                <a:latin typeface="Georgia"/>
              </a:rPr>
              <a:t>NYC Office of Technology &amp;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3529584"/>
            <a:ext cx="1828800" cy="381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822191"/>
            <a:ext cx="62640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worked on this summer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sentence. The thing itself — you have six more slides for the values.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My role in it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Designer? Analyst? The person who wrote the model? What you personally had your hands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6291" y="960120"/>
            <a:ext cx="4362483" cy="3703320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611" y="2354580"/>
            <a:ext cx="38138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You with your host-organization team, or a photo from the June workshop. Optional but nice.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6291" y="4892040"/>
            <a:ext cx="43624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Who I worked with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Names and roles of the people at NYC OTI.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Isabel Corpus  ·  NYC OTI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1 of 7  ·  aim for 30 sec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DISCOVERY  → 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values I committed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Two to four values, straight off your Figma Discovery canvas — including any you brought yourself as the PiTech Fellow.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1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9010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2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79612" y="1847088"/>
            <a:ext cx="3509162" cy="118872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7356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3 (OPTIONAL)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Isabel Corpus  ·  NYC OTI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2 of 7  ·  aim for 45 sec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How I operationalized each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Value → the requirement it produced → what actually changed. Mark honestly whether it shipped or stayed a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184708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IT DEMANDED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9592" y="184708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 ACTUALLY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5247" y="184708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11185855" cy="22225"/>
          </a:xfrm>
          <a:prstGeom prst="rect">
            <a:avLst/>
          </a:prstGeom>
          <a:solidFill>
            <a:srgbClr val="1A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" y="2340864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2212848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61488" y="2340864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2212848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44183" y="2340864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7" y="2212848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94975" y="2322576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64992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" y="3493008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364992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61488" y="3493008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9592" y="3364992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44183" y="3493008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5247" y="3364992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94975" y="3474720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17136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4645152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4517136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761488" y="4645152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9592" y="4517136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44183" y="4645152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7" y="4517136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94975" y="4626864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87568"/>
            <a:ext cx="11185855" cy="420624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22376" y="5687568"/>
            <a:ext cx="1074694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514"/>
                </a:solidFill>
                <a:latin typeface="Arial"/>
              </a:rPr>
              <a:t>Add rows if you have more. If a value produced no change at all, keep the row and say so — that is a finding, not a failure.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Isabel Corpus  ·  NYC OTI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3 of 7  ·  aim for 60 sec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Show it. A screenshot, a Figma frame, a rubric, a diff, a document, a photo of the wall. Talk us through what we are looking 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Isabel Corpus  ·  NYC OTI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4 of 7  ·  aim for 60 sec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A second artifact, a before/after, or a close-up. Duplicate this slide if you need more — delete it if you do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Isabel Corpus  ·  NYC OTI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5 of 7  ·  aim for 60 sec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VALUES IN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collided — and what I did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The three moves from Chapter 6. Fill the ones that happened to you; delete the ones that did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621792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6669"/>
                </a:solidFill>
                <a:latin typeface="Arial"/>
              </a:rPr>
              <a:t>DISSOLVED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Redesigned so the conflict went away — both values fully honoured.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made it dissolvable?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B75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41266" y="1847088"/>
            <a:ext cx="3509162" cy="621792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0722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8F2D2A"/>
                </a:solidFill>
                <a:latin typeface="Arial"/>
              </a:rPr>
              <a:t>COMPROMISED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Both values partly satisfied; neither got everything.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each value give up?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A07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79612" y="1847088"/>
            <a:ext cx="3509162" cy="621792"/>
          </a:xfrm>
          <a:prstGeom prst="rect">
            <a:avLst/>
          </a:prstGeom>
          <a:solidFill>
            <a:srgbClr val="F0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99068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7522F"/>
                </a:solidFill>
                <a:latin typeface="Arial"/>
              </a:rPr>
              <a:t>TRADED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9068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One value explicitly prioritized over another.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is the cost, and who pays it?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Isabel Corpus  ·  NYC OTI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6 of 7  ·  aim for 60 sec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THE FRAMEWORK, AND 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the framework did, and what I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Be candid on the left. Be concrete on the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5364327" cy="4279392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4815687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2D2A"/>
                </a:solidFill>
                <a:latin typeface="Arial"/>
              </a:rPr>
              <a:t>THE FRAMEWORK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my thinking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moment it gave you a word, a reason, or an argument you did not have before.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the artifact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Naming something and building something differently are two different wins. Which did you get?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did not help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Too late? Too abstract for your host? Missing the people most affected? Say so — this is genuinely useful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847088"/>
            <a:ext cx="5364327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847088"/>
            <a:ext cx="5364327" cy="118872"/>
          </a:xfrm>
          <a:prstGeom prst="rect">
            <a:avLst/>
          </a:prstGeom>
          <a:solidFill>
            <a:srgbClr val="2F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98767" y="2212848"/>
            <a:ext cx="4815687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6669"/>
                </a:solidFill>
                <a:latin typeface="Arial"/>
              </a:rPr>
              <a:t>VERIFICATION &amp; NEXT STEPS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How would I check the values actually landed?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A test, a metric, a review, someone to ask. Who looks, and at what?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am handing over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What stays with your host organization after August, and who owns it.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carry into my own research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thing you will do differently next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Isabel Corpus  ·  NYC OTI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7 of 7  ·  aim for 60 sec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960120"/>
            <a:ext cx="62640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F2D2A"/>
                </a:solidFill>
                <a:latin typeface="Arial"/>
              </a:rPr>
              <a:t>VALUES IN PRACTICE  ·  PITECH FELLOW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53312"/>
            <a:ext cx="64877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1A1514"/>
                </a:solidFill>
                <a:latin typeface="Georgia"/>
              </a:rPr>
              <a:t>Jingruo 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88920"/>
            <a:ext cx="64877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8F2D2A"/>
                </a:solidFill>
                <a:latin typeface="Georgia"/>
              </a:rPr>
              <a:t>NYC Department for the Aging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3529584"/>
            <a:ext cx="1828800" cy="381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822191"/>
            <a:ext cx="62640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worked on this summer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sentence. The thing itself — you have six more slides for the values.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My role in it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Designer? Analyst? The person who wrote the model? What you personally had your hands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6291" y="960120"/>
            <a:ext cx="4362483" cy="3703320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611" y="2354580"/>
            <a:ext cx="38138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You with your host-organization team, or a photo from the June workshop. Optional but nice.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6291" y="4892040"/>
            <a:ext cx="43624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Who I worked with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Names and roles of the people at NYC Aging.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Jingruo Chen  ·  NYC 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1 of 7  ·  aim for 30 sec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DISCOVERY  → 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values I committed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Two to four values, straight off your Figma Discovery canvas — including any you brought yourself as the PiTech Fellow.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1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9010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2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79612" y="1847088"/>
            <a:ext cx="3509162" cy="118872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7356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3 (OPTIONAL)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Jingruo Chen  ·  NYC 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2 of 7  ·  aim for 45 sec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How I operationalized each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Value → the requirement it produced → what actually changed. Mark honestly whether it shipped or stayed a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184708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IT DEMANDED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9592" y="184708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 ACTUALLY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5247" y="184708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11185855" cy="22225"/>
          </a:xfrm>
          <a:prstGeom prst="rect">
            <a:avLst/>
          </a:prstGeom>
          <a:solidFill>
            <a:srgbClr val="1A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" y="2340864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2212848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61488" y="2340864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2212848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44183" y="2340864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7" y="2212848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94975" y="2322576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64992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" y="3493008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364992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61488" y="3493008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9592" y="3364992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44183" y="3493008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5247" y="3364992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94975" y="3474720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17136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4645152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4517136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761488" y="4645152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9592" y="4517136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44183" y="4645152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7" y="4517136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94975" y="4626864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87568"/>
            <a:ext cx="11185855" cy="420624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22376" y="5687568"/>
            <a:ext cx="1074694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514"/>
                </a:solidFill>
                <a:latin typeface="Arial"/>
              </a:rPr>
              <a:t>Add rows if you have more. If a value produced no change at all, keep the row and say so — that is a finding, not a failure.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Jingruo Chen  ·  NYC Aging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3 of 7  ·  aim for 60 sec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Show it. A screenshot, a Figma frame, a rubric, a diff, a document, a photo of the wall. Talk us through what we are looking 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Jingruo Chen  ·  NYC 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4 of 7  ·  aim for 60 sec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A second artifact, a before/after, or a close-up. Duplicate this slide if you need more — delete it if you do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Jingruo Chen  ·  NYC 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5 of 7  ·  aim for 60 sec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VALUES IN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collided — and what I did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The three moves from Chapter 6. Fill the ones that happened to you; delete the ones that did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621792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6669"/>
                </a:solidFill>
                <a:latin typeface="Arial"/>
              </a:rPr>
              <a:t>DISSOLVED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Redesigned so the conflict went away — both values fully honoured.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made it dissolvable?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B75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41266" y="1847088"/>
            <a:ext cx="3509162" cy="621792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0722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8F2D2A"/>
                </a:solidFill>
                <a:latin typeface="Arial"/>
              </a:rPr>
              <a:t>COMPROMISED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Both values partly satisfied; neither got everything.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each value give up?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A07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79612" y="1847088"/>
            <a:ext cx="3509162" cy="621792"/>
          </a:xfrm>
          <a:prstGeom prst="rect">
            <a:avLst/>
          </a:prstGeom>
          <a:solidFill>
            <a:srgbClr val="F0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99068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7522F"/>
                </a:solidFill>
                <a:latin typeface="Arial"/>
              </a:rPr>
              <a:t>TRADED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9068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One value explicitly prioritized over another.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is the cost, and who pays it?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Jingruo Chen  ·  NYC 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6 of 7  ·  aim for 60 sec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THE FRAMEWORK, AND 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the framework did, and what I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Be candid on the left. Be concrete on the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5364327" cy="4279392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4815687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2D2A"/>
                </a:solidFill>
                <a:latin typeface="Arial"/>
              </a:rPr>
              <a:t>THE FRAMEWORK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my thinking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moment it gave you a word, a reason, or an argument you did not have before.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the artifact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Naming something and building something differently are two different wins. Which did you get?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did not help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Too late? Too abstract for your host? Missing the people most affected? Say so — this is genuinely useful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847088"/>
            <a:ext cx="5364327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847088"/>
            <a:ext cx="5364327" cy="118872"/>
          </a:xfrm>
          <a:prstGeom prst="rect">
            <a:avLst/>
          </a:prstGeom>
          <a:solidFill>
            <a:srgbClr val="2F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98767" y="2212848"/>
            <a:ext cx="4815687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6669"/>
                </a:solidFill>
                <a:latin typeface="Arial"/>
              </a:rPr>
              <a:t>VERIFICATION &amp; NEXT STEPS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How would I check the values actually landed?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A test, a metric, a review, someone to ask. Who looks, and at what?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am handing over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What stays with your host organization after August, and who owns it.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carry into my own research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thing you will do differently next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Jingruo Chen  ·  NYC 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7 of 7  ·  aim for 60 sec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960120"/>
            <a:ext cx="62640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F2D2A"/>
                </a:solidFill>
                <a:latin typeface="Arial"/>
              </a:rPr>
              <a:t>VALUES IN PRACTICE  ·  PITECH FELLOW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53312"/>
            <a:ext cx="64877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1A1514"/>
                </a:solidFill>
                <a:latin typeface="Georgia"/>
              </a:rPr>
              <a:t>Nanyi Jiang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88920"/>
            <a:ext cx="64877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8F2D2A"/>
                </a:solidFill>
                <a:latin typeface="Georgia"/>
              </a:rPr>
              <a:t>National Women's Hall of Fame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3529584"/>
            <a:ext cx="1828800" cy="381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822191"/>
            <a:ext cx="62640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worked on this summer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sentence. The thing itself — you have six more slides for the values.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My role in it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Designer? Analyst? The person who wrote the model? What you personally had your hands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6291" y="960120"/>
            <a:ext cx="4362483" cy="3703320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611" y="2354580"/>
            <a:ext cx="38138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You with your host-organization team, or a photo from the June workshop. Optional but nice.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6291" y="4892040"/>
            <a:ext cx="43624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Who I worked with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Names and roles of the people at NWHF.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Nanyi Jiang  ·  NWHF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1 of 7  ·  aim for 30 sec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DISCOVERY  → 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values I committed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Two to four values, straight off your Figma Discovery canvas — including any you brought yourself as the PiTech Fellow.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1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9010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2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79612" y="1847088"/>
            <a:ext cx="3509162" cy="118872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7356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3 (OPTIONAL)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Nanyi Jiang  ·  NWHF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2 of 7  ·  aim for 45 sec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How I operationalized each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Value → the requirement it produced → what actually changed. Mark honestly whether it shipped or stayed a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184708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IT DEMANDED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9592" y="184708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 ACTUALLY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5247" y="184708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11185855" cy="22225"/>
          </a:xfrm>
          <a:prstGeom prst="rect">
            <a:avLst/>
          </a:prstGeom>
          <a:solidFill>
            <a:srgbClr val="1A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" y="2340864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2212848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61488" y="2340864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2212848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44183" y="2340864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7" y="2212848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94975" y="2322576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64992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" y="3493008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364992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61488" y="3493008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9592" y="3364992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44183" y="3493008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5247" y="3364992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94975" y="3474720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17136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4645152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4517136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761488" y="4645152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9592" y="4517136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44183" y="4645152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7" y="4517136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94975" y="4626864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87568"/>
            <a:ext cx="11185855" cy="420624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22376" y="5687568"/>
            <a:ext cx="1074694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514"/>
                </a:solidFill>
                <a:latin typeface="Arial"/>
              </a:rPr>
              <a:t>Add rows if you have more. If a value produced no change at all, keep the row and say so — that is a finding, not a failure.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Nanyi Jiang  ·  NWHF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3 of 7  ·  aim for 60 sec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Show it. A screenshot, a Figma frame, a rubric, a diff, a document, a photo of the wall. Talk us through what we are looking 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Nanyi Jiang  ·  NWHF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4 of 7  ·  aim for 60 sec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A second artifact, a before/after, or a close-up. Duplicate this slide if you need more — delete it if you do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Nanyi Jiang  ·  NWHF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5 of 7  ·  aim for 60 sec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VALUES IN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collided — and what I did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The three moves from Chapter 6. Fill the ones that happened to you; delete the ones that did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621792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6669"/>
                </a:solidFill>
                <a:latin typeface="Arial"/>
              </a:rPr>
              <a:t>DISSOLVED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Redesigned so the conflict went away — both values fully honoured.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made it dissolvable?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B75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41266" y="1847088"/>
            <a:ext cx="3509162" cy="621792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0722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8F2D2A"/>
                </a:solidFill>
                <a:latin typeface="Arial"/>
              </a:rPr>
              <a:t>COMPROMISED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Both values partly satisfied; neither got everything.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each value give up?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A07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79612" y="1847088"/>
            <a:ext cx="3509162" cy="621792"/>
          </a:xfrm>
          <a:prstGeom prst="rect">
            <a:avLst/>
          </a:prstGeom>
          <a:solidFill>
            <a:srgbClr val="F0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99068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7522F"/>
                </a:solidFill>
                <a:latin typeface="Arial"/>
              </a:rPr>
              <a:t>TRADED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9068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One value explicitly prioritized over another.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is the cost, and who pays it?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Nanyi Jiang  ·  NWHF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6 of 7  ·  aim for 60 sec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THE FRAMEWORK, AND 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the framework did, and what I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Be candid on the left. Be concrete on the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5364327" cy="4279392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4815687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2D2A"/>
                </a:solidFill>
                <a:latin typeface="Arial"/>
              </a:rPr>
              <a:t>THE FRAMEWORK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my thinking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moment it gave you a word, a reason, or an argument you did not have before.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the artifact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Naming something and building something differently are two different wins. Which did you get?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did not help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Too late? Too abstract for your host? Missing the people most affected? Say so — this is genuinely useful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847088"/>
            <a:ext cx="5364327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847088"/>
            <a:ext cx="5364327" cy="118872"/>
          </a:xfrm>
          <a:prstGeom prst="rect">
            <a:avLst/>
          </a:prstGeom>
          <a:solidFill>
            <a:srgbClr val="2F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98767" y="2212848"/>
            <a:ext cx="4815687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6669"/>
                </a:solidFill>
                <a:latin typeface="Arial"/>
              </a:rPr>
              <a:t>VERIFICATION &amp; NEXT STEPS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How would I check the values actually landed?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A test, a metric, a review, someone to ask. Who looks, and at what?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am handing over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What stays with your host organization after August, and who owns it.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carry into my own research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thing you will do differently next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Nanyi Jiang  ·  NWHF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7 of 7  ·  aim for 60 sec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960120"/>
            <a:ext cx="62640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F2D2A"/>
                </a:solidFill>
                <a:latin typeface="Arial"/>
              </a:rPr>
              <a:t>VALUES IN PRACTICE  ·  PITECH FELLOW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53312"/>
            <a:ext cx="64877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1A1514"/>
                </a:solidFill>
                <a:latin typeface="Georgia"/>
              </a:rPr>
              <a:t>Suvadip Sana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88920"/>
            <a:ext cx="64877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8F2D2A"/>
                </a:solidFill>
                <a:latin typeface="Georgia"/>
              </a:rPr>
              <a:t>NYC Council Data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3529584"/>
            <a:ext cx="1828800" cy="381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822191"/>
            <a:ext cx="62640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worked on this summer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sentence. The thing itself — you have six more slides for the values.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My role in it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Designer? Analyst? The person who wrote the model? What you personally had your hands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6291" y="960120"/>
            <a:ext cx="4362483" cy="3703320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611" y="2354580"/>
            <a:ext cx="38138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You with your host-organization team, or a photo from the June workshop. Optional but nice.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6291" y="4892040"/>
            <a:ext cx="43624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Who I worked with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Names and roles of the people at NYC Council.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Suvadip Sana  ·  NYC Council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1 of 7  ·  aim for 30 sec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DISCOVERY  → 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values I committed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Two to four values, straight off your Figma Discovery canvas — including any you brought yourself as the PiTech Fellow.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1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9010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2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79612" y="1847088"/>
            <a:ext cx="3509162" cy="118872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7356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3 (OPTIONAL)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Suvadip Sana  ·  NYC Council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2 of 7  ·  aim for 45 sec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How I operationalized each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Value → the requirement it produced → what actually changed. Mark honestly whether it shipped or stayed a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184708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IT DEMANDED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9592" y="184708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 ACTUALLY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5247" y="184708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11185855" cy="22225"/>
          </a:xfrm>
          <a:prstGeom prst="rect">
            <a:avLst/>
          </a:prstGeom>
          <a:solidFill>
            <a:srgbClr val="1A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" y="2340864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2212848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61488" y="2340864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2212848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44183" y="2340864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7" y="2212848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94975" y="2322576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64992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" y="3493008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364992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61488" y="3493008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9592" y="3364992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44183" y="3493008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5247" y="3364992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94975" y="3474720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17136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4645152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4517136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761488" y="4645152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9592" y="4517136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44183" y="4645152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7" y="4517136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94975" y="4626864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87568"/>
            <a:ext cx="11185855" cy="420624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22376" y="5687568"/>
            <a:ext cx="1074694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514"/>
                </a:solidFill>
                <a:latin typeface="Arial"/>
              </a:rPr>
              <a:t>Add rows if you have more. If a value produced no change at all, keep the row and say so — that is a finding, not a failure.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Suvadip Sana  ·  NYC Council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3 of 7  ·  aim for 60 sec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Show it. A screenshot, a Figma frame, a rubric, a diff, a document, a photo of the wall. Talk us through what we are looking 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Suvadip Sana  ·  NYC Council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4 of 7  ·  aim for 60 sec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A second artifact, a before/after, or a close-up. Duplicate this slide if you need more — delete it if you do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Suvadip Sana  ·  NYC Council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5 of 7  ·  aim for 60 sec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VALUES IN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collided — and what I did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The three moves from Chapter 6. Fill the ones that happened to you; delete the ones that did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621792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6669"/>
                </a:solidFill>
                <a:latin typeface="Arial"/>
              </a:rPr>
              <a:t>DISSOLVED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Redesigned so the conflict went away — both values fully honoured.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made it dissolvable?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B75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41266" y="1847088"/>
            <a:ext cx="3509162" cy="621792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0722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8F2D2A"/>
                </a:solidFill>
                <a:latin typeface="Arial"/>
              </a:rPr>
              <a:t>COMPROMISED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Both values partly satisfied; neither got everything.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each value give up?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A07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79612" y="1847088"/>
            <a:ext cx="3509162" cy="621792"/>
          </a:xfrm>
          <a:prstGeom prst="rect">
            <a:avLst/>
          </a:prstGeom>
          <a:solidFill>
            <a:srgbClr val="F0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99068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7522F"/>
                </a:solidFill>
                <a:latin typeface="Arial"/>
              </a:rPr>
              <a:t>TRADED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9068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One value explicitly prioritized over another.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is the cost, and who pays it?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Suvadip Sana  ·  NYC Council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6 of 7  ·  aim for 60 sec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THE FRAMEWORK, AND 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the framework did, and what I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Be candid on the left. Be concrete on the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5364327" cy="4279392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4815687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2D2A"/>
                </a:solidFill>
                <a:latin typeface="Arial"/>
              </a:rPr>
              <a:t>THE FRAMEWORK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my thinking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moment it gave you a word, a reason, or an argument you did not have before.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the artifact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Naming something and building something differently are two different wins. Which did you get?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did not help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Too late? Too abstract for your host? Missing the people most affected? Say so — this is genuinely useful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847088"/>
            <a:ext cx="5364327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847088"/>
            <a:ext cx="5364327" cy="118872"/>
          </a:xfrm>
          <a:prstGeom prst="rect">
            <a:avLst/>
          </a:prstGeom>
          <a:solidFill>
            <a:srgbClr val="2F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98767" y="2212848"/>
            <a:ext cx="4815687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6669"/>
                </a:solidFill>
                <a:latin typeface="Arial"/>
              </a:rPr>
              <a:t>VERIFICATION &amp; NEXT STEPS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How would I check the values actually landed?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A test, a metric, a review, someone to ask. Who looks, and at what?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am handing over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What stays with your host organization after August, and who owns it.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carry into my own research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thing you will do differently next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Suvadip Sana  ·  NYC Council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7 of 7  ·  aim for 60 sec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960120"/>
            <a:ext cx="62640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F2D2A"/>
                </a:solidFill>
                <a:latin typeface="Arial"/>
              </a:rPr>
              <a:t>VALUES IN PRACTICE  ·  PITECH FELLOW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53312"/>
            <a:ext cx="64877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1A1514"/>
                </a:solidFill>
                <a:latin typeface="Georgia"/>
              </a:rPr>
              <a:t>Tan Gemicioglu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88920"/>
            <a:ext cx="64877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8F2D2A"/>
                </a:solidFill>
                <a:latin typeface="Georgia"/>
              </a:rPr>
              <a:t>Ability Beyond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3529584"/>
            <a:ext cx="1828800" cy="381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822191"/>
            <a:ext cx="62640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worked on this summer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sentence. The thing itself — you have six more slides for the values.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My role in it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Designer? Analyst? The person who wrote the model? What you personally had your hands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6291" y="960120"/>
            <a:ext cx="4362483" cy="3703320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611" y="2354580"/>
            <a:ext cx="38138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You with your host-organization team, or a photo from the June workshop. Optional but nice.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6291" y="4892040"/>
            <a:ext cx="43624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Who I worked with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Names and roles of the people at Ability Beyond.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 Gemicioglu  ·  Ability Beyond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1 of 7  ·  aim for 30 sec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DISCOVERY  → 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values I committed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Two to four values, straight off your Figma Discovery canvas — including any you brought yourself as the PiTech Fellow.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1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9010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2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79612" y="1847088"/>
            <a:ext cx="3509162" cy="118872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7356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3 (OPTIONAL)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 Gemicioglu  ·  Ability Beyond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2 of 7  ·  aim for 45 sec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How I operationalized each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Value → the requirement it produced → what actually changed. Mark honestly whether it shipped or stayed a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184708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IT DEMANDED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9592" y="184708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 ACTUALLY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5247" y="184708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11185855" cy="22225"/>
          </a:xfrm>
          <a:prstGeom prst="rect">
            <a:avLst/>
          </a:prstGeom>
          <a:solidFill>
            <a:srgbClr val="1A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" y="2340864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2212848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61488" y="2340864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2212848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44183" y="2340864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7" y="2212848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94975" y="2322576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64992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" y="3493008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364992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61488" y="3493008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9592" y="3364992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44183" y="3493008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5247" y="3364992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94975" y="3474720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17136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4645152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4517136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761488" y="4645152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9592" y="4517136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44183" y="4645152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7" y="4517136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94975" y="4626864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87568"/>
            <a:ext cx="11185855" cy="420624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22376" y="5687568"/>
            <a:ext cx="1074694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514"/>
                </a:solidFill>
                <a:latin typeface="Arial"/>
              </a:rPr>
              <a:t>Add rows if you have more. If a value produced no change at all, keep the row and say so — that is a finding, not a failure.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 Gemicioglu  ·  Ability Beyond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3 of 7  ·  aim for 60 sec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Show it. A screenshot, a Figma frame, a rubric, a diff, a document, a photo of the wall. Talk us through what we are looking 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 Gemicioglu  ·  Ability Beyond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4 of 7  ·  aim for 60 sec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A second artifact, a before/after, or a close-up. Duplicate this slide if you need more — delete it if you do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 Gemicioglu  ·  Ability Beyond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5 of 7  ·  aim for 60 sec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VALUES IN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collided — and what I did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The three moves from Chapter 6. Fill the ones that happened to you; delete the ones that did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621792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6669"/>
                </a:solidFill>
                <a:latin typeface="Arial"/>
              </a:rPr>
              <a:t>DISSOLVED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Redesigned so the conflict went away — both values fully honoured.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made it dissolvable?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B75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41266" y="1847088"/>
            <a:ext cx="3509162" cy="621792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0722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8F2D2A"/>
                </a:solidFill>
                <a:latin typeface="Arial"/>
              </a:rPr>
              <a:t>COMPROMISED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Both values partly satisfied; neither got everything.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each value give up?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A07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79612" y="1847088"/>
            <a:ext cx="3509162" cy="621792"/>
          </a:xfrm>
          <a:prstGeom prst="rect">
            <a:avLst/>
          </a:prstGeom>
          <a:solidFill>
            <a:srgbClr val="F0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99068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7522F"/>
                </a:solidFill>
                <a:latin typeface="Arial"/>
              </a:rPr>
              <a:t>TRADED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9068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One value explicitly prioritized over another.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is the cost, and who pays it?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 Gemicioglu  ·  Ability Beyond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6 of 7  ·  aim for 60 sec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THE FRAMEWORK, AND 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the framework did, and what I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Be candid on the left. Be concrete on the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5364327" cy="4279392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4815687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2D2A"/>
                </a:solidFill>
                <a:latin typeface="Arial"/>
              </a:rPr>
              <a:t>THE FRAMEWORK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my thinking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moment it gave you a word, a reason, or an argument you did not have before.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the artifact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Naming something and building something differently are two different wins. Which did you get?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did not help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Too late? Too abstract for your host? Missing the people most affected? Say so — this is genuinely useful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847088"/>
            <a:ext cx="5364327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847088"/>
            <a:ext cx="5364327" cy="118872"/>
          </a:xfrm>
          <a:prstGeom prst="rect">
            <a:avLst/>
          </a:prstGeom>
          <a:solidFill>
            <a:srgbClr val="2F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98767" y="2212848"/>
            <a:ext cx="4815687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6669"/>
                </a:solidFill>
                <a:latin typeface="Arial"/>
              </a:rPr>
              <a:t>VERIFICATION &amp; NEXT STEPS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How would I check the values actually landed?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A test, a metric, a review, someone to ask. Who looks, and at what?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am handing over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What stays with your host organization after August, and who owns it.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carry into my own research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thing you will do differently next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 Gemicioglu  ·  Ability Beyond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7 of 7  ·  aim for 60 sec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960120"/>
            <a:ext cx="62640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F2D2A"/>
                </a:solidFill>
                <a:latin typeface="Arial"/>
              </a:rPr>
              <a:t>VALUES IN PRACTICE  ·  PITECH FELLOW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53312"/>
            <a:ext cx="64877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1A1514"/>
                </a:solidFill>
                <a:latin typeface="Georgia"/>
              </a:rPr>
              <a:t>Tanvir Ahmed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88920"/>
            <a:ext cx="64877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8F2D2A"/>
                </a:solidFill>
                <a:latin typeface="Georgia"/>
              </a:rPr>
              <a:t>Environmental Defense Fund — MethaneSAT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3529584"/>
            <a:ext cx="1828800" cy="381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822191"/>
            <a:ext cx="62640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worked on this summer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sentence. The thing itself — you have six more slides for the values.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My role in it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Designer? Analyst? The person who wrote the model? What you personally had your hands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6291" y="960120"/>
            <a:ext cx="4362483" cy="3703320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611" y="2354580"/>
            <a:ext cx="38138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You with your host-organization team, or a photo from the June workshop. Optional but nice.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6291" y="4892040"/>
            <a:ext cx="43624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Who I worked with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Names and roles of the people at MethaneSAT.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Tanvir Ahmed  ·  MethaneSAT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1 of 7  ·  aim for 30 sec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DISCOVERY  → 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values I committed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Two to four values, straight off your Figma Discovery canvas — including any you brought yourself as the PiTech Fellow.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1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9010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2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79612" y="1847088"/>
            <a:ext cx="3509162" cy="118872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7356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3 (OPTIONAL)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Tanvir Ahmed  ·  MethaneSAT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2 of 7  ·  aim for 45 sec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How I operationalized each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Value → the requirement it produced → what actually changed. Mark honestly whether it shipped or stayed a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184708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IT DEMANDED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9592" y="184708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 ACTUALLY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5247" y="184708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11185855" cy="22225"/>
          </a:xfrm>
          <a:prstGeom prst="rect">
            <a:avLst/>
          </a:prstGeom>
          <a:solidFill>
            <a:srgbClr val="1A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" y="2340864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2212848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61488" y="2340864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2212848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44183" y="2340864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7" y="2212848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94975" y="2322576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64992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" y="3493008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364992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61488" y="3493008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9592" y="3364992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44183" y="3493008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5247" y="3364992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94975" y="3474720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17136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4645152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4517136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761488" y="4645152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9592" y="4517136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44183" y="4645152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7" y="4517136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94975" y="4626864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87568"/>
            <a:ext cx="11185855" cy="420624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22376" y="5687568"/>
            <a:ext cx="1074694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514"/>
                </a:solidFill>
                <a:latin typeface="Arial"/>
              </a:rPr>
              <a:t>Add rows if you have more. If a value produced no change at all, keep the row and say so — that is a finding, not a failure.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Tanvir Ahmed  ·  MethaneSAT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3 of 7  ·  aim for 60 sec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Show it. A screenshot, a Figma frame, a rubric, a diff, a document, a photo of the wall. Talk us through what we are looking 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Tanvir Ahmed  ·  MethaneSAT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4 of 7  ·  aim for 60 sec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A second artifact, a before/after, or a close-up. Duplicate this slide if you need more — delete it if you do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Tanvir Ahmed  ·  MethaneSAT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5 of 7  ·  aim for 60 sec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VALUES IN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collided — and what I did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The three moves from Chapter 6. Fill the ones that happened to you; delete the ones that did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621792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6669"/>
                </a:solidFill>
                <a:latin typeface="Arial"/>
              </a:rPr>
              <a:t>DISSOLVED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Redesigned so the conflict went away — both values fully honoured.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made it dissolvable?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B75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41266" y="1847088"/>
            <a:ext cx="3509162" cy="621792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0722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8F2D2A"/>
                </a:solidFill>
                <a:latin typeface="Arial"/>
              </a:rPr>
              <a:t>COMPROMISED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Both values partly satisfied; neither got everything.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each value give up?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A07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79612" y="1847088"/>
            <a:ext cx="3509162" cy="621792"/>
          </a:xfrm>
          <a:prstGeom prst="rect">
            <a:avLst/>
          </a:prstGeom>
          <a:solidFill>
            <a:srgbClr val="F0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99068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7522F"/>
                </a:solidFill>
                <a:latin typeface="Arial"/>
              </a:rPr>
              <a:t>TRADED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9068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One value explicitly prioritized over another.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is the cost, and who pays it?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Tanvir Ahmed  ·  MethaneSAT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6 of 7  ·  aim for 60 sec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THE FRAMEWORK, AND 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the framework did, and what I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Be candid on the left. Be concrete on the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5364327" cy="4279392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4815687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2D2A"/>
                </a:solidFill>
                <a:latin typeface="Arial"/>
              </a:rPr>
              <a:t>THE FRAMEWORK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my thinking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moment it gave you a word, a reason, or an argument you did not have before.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the artifact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Naming something and building something differently are two different wins. Which did you get?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did not help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Too late? Too abstract for your host? Missing the people most affected? Say so — this is genuinely useful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847088"/>
            <a:ext cx="5364327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847088"/>
            <a:ext cx="5364327" cy="118872"/>
          </a:xfrm>
          <a:prstGeom prst="rect">
            <a:avLst/>
          </a:prstGeom>
          <a:solidFill>
            <a:srgbClr val="2F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98767" y="2212848"/>
            <a:ext cx="4815687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6669"/>
                </a:solidFill>
                <a:latin typeface="Arial"/>
              </a:rPr>
              <a:t>VERIFICATION &amp; NEXT STEPS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How would I check the values actually landed?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A test, a metric, a review, someone to ask. Who looks, and at what?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am handing over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What stays with your host organization after August, and who owns it.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carry into my own research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thing you will do differently next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Tanvir Ahmed  ·  MethaneSAT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7 of 7  ·  aim for 60 sec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8952" y="960120"/>
            <a:ext cx="62640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F2D2A"/>
                </a:solidFill>
                <a:latin typeface="Arial"/>
              </a:rPr>
              <a:t>VALUES IN PRACTICE  ·  PITECH FELLOW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53312"/>
            <a:ext cx="64877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1A1514"/>
                </a:solidFill>
                <a:latin typeface="Georgia"/>
              </a:rPr>
              <a:t>Ulysse Hennebelle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88920"/>
            <a:ext cx="64877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8F2D2A"/>
                </a:solidFill>
                <a:latin typeface="Georgia"/>
              </a:rPr>
              <a:t>New York Police Department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3529584"/>
            <a:ext cx="1828800" cy="38100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822191"/>
            <a:ext cx="62640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worked on this summer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sentence. The thing itself — you have six more slides for the values.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My role in it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Designer? Analyst? The person who wrote the model? What you personally had your hands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6291" y="960120"/>
            <a:ext cx="4362483" cy="3703320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611" y="2354580"/>
            <a:ext cx="38138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You with your host-organization team, or a photo from the June workshop. Optional but nice.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6291" y="4892040"/>
            <a:ext cx="43624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Who I worked with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Names and roles of the people at NYPD.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Ulysse Hennebelle  ·  NYPD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1 of 7  ·  aim for 30 sec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DISCOVERY  → 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values I committed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Two to four values, straight off your Figma Discovery canvas — including any you brought yourself as the PiTech Fellow.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1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118872"/>
          </a:xfrm>
          <a:prstGeom prst="rect">
            <a:avLst/>
          </a:prstGeom>
          <a:solidFill>
            <a:srgbClr val="B7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9010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2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79612" y="1847088"/>
            <a:ext cx="3509162" cy="118872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7356" y="2212848"/>
            <a:ext cx="3033674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665C57"/>
                </a:solidFill>
                <a:latin typeface="Arial"/>
              </a:rPr>
              <a:t>VALUE 3 (OPTIONAL)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2800" b="0" i="1">
                <a:solidFill>
                  <a:srgbClr val="665C57"/>
                </a:solidFill>
                <a:latin typeface="Arial"/>
              </a:rPr>
              <a:t>Name the value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In my project this means…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Your own definition — what it demands of this system.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came from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Functional / Stakeholders / Constraints / Societal / me, the fellow — keep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Ulysse Hennebelle  ·  NYPD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2 of 7  ·  aim for 45 sec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How I operationalized each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Value → the requirement it produced → what actually changed. Mark honestly whether it shipped or stayed a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184708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IT DEMANDED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9592" y="184708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WHAT I ACTUALLY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5247" y="184708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11185855" cy="22225"/>
          </a:xfrm>
          <a:prstGeom prst="rect">
            <a:avLst/>
          </a:prstGeom>
          <a:solidFill>
            <a:srgbClr val="1A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" y="2340864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2212848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61488" y="2340864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2212848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44183" y="2340864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7" y="2212848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94975" y="2322576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64992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" y="3493008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364992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61488" y="3493008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9592" y="3364992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44183" y="3493008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5247" y="3364992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94975" y="3474720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17136"/>
            <a:ext cx="1965960" cy="1024128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4645152"/>
            <a:ext cx="1673351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0" i="1">
                <a:solidFill>
                  <a:srgbClr val="665C57"/>
                </a:solidFill>
                <a:latin typeface="Arial"/>
              </a:rPr>
              <a:t>Value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96896" y="4517136"/>
            <a:ext cx="3154680" cy="1024128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761488" y="4645152"/>
            <a:ext cx="28254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"The system has to ______." The requirement, not the feature.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9592" y="4517136"/>
            <a:ext cx="397763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44183" y="4645152"/>
            <a:ext cx="364845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1">
                <a:solidFill>
                  <a:srgbClr val="665C57"/>
                </a:solidFill>
                <a:latin typeface="Arial"/>
              </a:rPr>
              <a:t>The field you removed, the threshold you changed, the consent step you added. Name the artifact.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7" y="4517136"/>
            <a:ext cx="170078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94975" y="4626864"/>
            <a:ext cx="14813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6669"/>
                </a:solidFill>
                <a:latin typeface="Arial"/>
              </a:rPr>
              <a:t>Shipped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7522F"/>
                </a:solidFill>
                <a:latin typeface="Arial"/>
              </a:rPr>
              <a:t>Partially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65C57"/>
                </a:solidFill>
                <a:latin typeface="Arial"/>
              </a:rPr>
              <a:t>Planned only</a:t>
            </a:r>
          </a:p>
          <a:p>
            <a:pPr algn="l"/>
            <a:r>
              <a:rPr sz="1000" b="0" i="1">
                <a:solidFill>
                  <a:srgbClr val="665C57"/>
                </a:solidFill>
                <a:latin typeface="Arial"/>
              </a:rPr>
              <a:t>keep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87568"/>
            <a:ext cx="11185855" cy="420624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22376" y="5687568"/>
            <a:ext cx="1074694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514"/>
                </a:solidFill>
                <a:latin typeface="Arial"/>
              </a:rPr>
              <a:t>Add rows if you have more. If a value produced no change at all, keep the row and say so — that is a finding, not a failure.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Ulysse Hennebelle  ·  NYPD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3 of 7  ·  aim for 60 sec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Show it. A screenshot, a Figma frame, a rubric, a diff, a document, a photo of the wall. Talk us through what we are looking 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Ulysse Hennebelle  ·  NYPD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4 of 7  ·  aim for 60 sec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The artifact,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A second artifact, a before/after, or a close-up. Duplicate this slide if you need more — delete it if you do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6949440" cy="4279392"/>
          </a:xfrm>
          <a:prstGeom prst="rect">
            <a:avLst/>
          </a:prstGeom>
          <a:solidFill>
            <a:srgbClr val="FAF6F2"/>
          </a:solidFill>
          <a:ln w="19050">
            <a:solidFill>
              <a:srgbClr val="B7555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9583"/>
            <a:ext cx="6400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F2D2A"/>
                </a:solidFill>
                <a:latin typeface="Arial"/>
              </a:rPr>
              <a:t>PASTE YOUR IMAGE HERE</a:t>
            </a:r>
          </a:p>
          <a:p>
            <a:pPr algn="ctr">
              <a:lnSpc>
                <a:spcPct val="120000"/>
              </a:lnSpc>
            </a:pPr>
            <a:r>
              <a:rPr sz="1250" b="0" i="1">
                <a:solidFill>
                  <a:srgbClr val="665C57"/>
                </a:solidFill>
                <a:latin typeface="Arial"/>
              </a:rPr>
              <a:t>Screenshot / Figma frame / document / photo. Crop tight and blur anything sensitive.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47088"/>
            <a:ext cx="3824935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am I looking at?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Name the artifact and where it lives.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 is in here?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Point at the specific pixel, clause, or line.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it look like before?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default you would have shipped without the values work.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Is it live?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Shipped / in review / prototype only / a recommendation in a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Ulysse Hennebelle  ·  NYPD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5 of 7  ·  aim for 60 sec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VALUES IN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collided — and what I did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The three moves from Chapter 6. Fill the ones that happened to you; delete the ones that did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3509162" cy="621792"/>
          </a:xfrm>
          <a:prstGeom prst="rect">
            <a:avLst/>
          </a:prstGeom>
          <a:solidFill>
            <a:srgbClr val="DC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6669"/>
                </a:solidFill>
                <a:latin typeface="Arial"/>
              </a:rPr>
              <a:t>DISSOLVED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Redesigned so the conflict went away — both values fully honoured.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made it dissolvable?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B75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41266" y="1847088"/>
            <a:ext cx="3509162" cy="621792"/>
          </a:xfrm>
          <a:prstGeom prst="rect">
            <a:avLst/>
          </a:prstGeom>
          <a:solidFill>
            <a:srgbClr val="F2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0722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8F2D2A"/>
                </a:solidFill>
                <a:latin typeface="Arial"/>
              </a:rPr>
              <a:t>COMPROMISED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Both values partly satisfied; neither got everything.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did each value give up?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9612" y="1847088"/>
            <a:ext cx="3509162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A07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79612" y="1847088"/>
            <a:ext cx="3509162" cy="621792"/>
          </a:xfrm>
          <a:prstGeom prst="rect">
            <a:avLst/>
          </a:prstGeom>
          <a:solidFill>
            <a:srgbClr val="F0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99068" y="1847088"/>
            <a:ext cx="307025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7522F"/>
                </a:solidFill>
                <a:latin typeface="Arial"/>
              </a:rPr>
              <a:t>TRADED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9068" y="2633472"/>
            <a:ext cx="3070250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500"/>
              </a:spcAft>
            </a:pPr>
            <a:r>
              <a:rPr sz="1250" b="0" i="1">
                <a:solidFill>
                  <a:srgbClr val="453D3A"/>
                </a:solidFill>
                <a:latin typeface="Arial"/>
              </a:rPr>
              <a:t>One value explicitly prioritized over another.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Which values collided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Value A vs. Value B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did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concrete move.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is the cost, and who pays it?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Be specific.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Ulysse Hennebelle  ·  NYPD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6 of 7  ·  aim for 60 sec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2D2A"/>
                </a:solidFill>
                <a:latin typeface="Arial"/>
              </a:rPr>
              <a:t>THE FRAMEWORK, AND 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514"/>
                </a:solidFill>
                <a:latin typeface="Georgia"/>
              </a:rPr>
              <a:t>What the framework did, and what I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16736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53D3A"/>
                </a:solidFill>
                <a:latin typeface="Arial"/>
              </a:rPr>
              <a:t>Be candid on the left. Be concrete on the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5364327" cy="4279392"/>
          </a:xfrm>
          <a:prstGeom prst="rect">
            <a:avLst/>
          </a:prstGeom>
          <a:solidFill>
            <a:srgbClr val="FAF6F2"/>
          </a:solidFill>
          <a:ln w="12700">
            <a:solidFill>
              <a:srgbClr val="B0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4815687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2D2A"/>
                </a:solidFill>
                <a:latin typeface="Arial"/>
              </a:rPr>
              <a:t>THE FRAMEWORK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my thinking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The moment it gave you a word, a reason, or an argument you did not have before.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changed the artifact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Naming something and building something differently are two different wins. Which did you get?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Where it did not help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Too late? Too abstract for your host? Missing the people most affected? Say so — this is genuinely useful to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847088"/>
            <a:ext cx="5364327" cy="4279392"/>
          </a:xfrm>
          <a:prstGeom prst="rect">
            <a:avLst/>
          </a:prstGeom>
          <a:solidFill>
            <a:srgbClr val="FFFFFF"/>
          </a:solidFill>
          <a:ln w="22225">
            <a:solidFill>
              <a:srgbClr val="2F8D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847088"/>
            <a:ext cx="5364327" cy="118872"/>
          </a:xfrm>
          <a:prstGeom prst="rect">
            <a:avLst/>
          </a:prstGeom>
          <a:solidFill>
            <a:srgbClr val="2F8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98767" y="2212848"/>
            <a:ext cx="4815687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6669"/>
                </a:solidFill>
                <a:latin typeface="Arial"/>
              </a:rPr>
              <a:t>VERIFICATION &amp; NEXT STEPS</a:t>
            </a:r>
          </a:p>
          <a:p>
            <a:pPr algn="l"/>
            <a:r>
              <a:rPr sz="600" b="0" i="0">
                <a:solidFill>
                  <a:srgbClr val="1A1514"/>
                </a:solidFill>
                <a:latin typeface="Arial"/>
              </a:rPr>
              <a:t/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How would I check the values actually landed?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A test, a metric, a review, someone to ask. Who looks, and at what?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am handing over</a:t>
            </a:r>
          </a:p>
          <a:p>
            <a:pPr algn="l">
              <a:lnSpc>
                <a:spcPct val="116000"/>
              </a:lnSpc>
              <a:spcAft>
                <a:spcPts val="1600"/>
              </a:spcAft>
            </a:pPr>
            <a:r>
              <a:rPr sz="1400" b="0" i="1">
                <a:solidFill>
                  <a:srgbClr val="665C57"/>
                </a:solidFill>
                <a:latin typeface="Arial"/>
              </a:rPr>
              <a:t>What stays with your host organization after August, and who owns it.</a:t>
            </a:r>
          </a:p>
          <a:p>
            <a:pPr algn="l"/>
            <a:r>
              <a:rPr sz="1450" b="1" i="0">
                <a:solidFill>
                  <a:srgbClr val="1A1514"/>
                </a:solidFill>
                <a:latin typeface="Arial"/>
              </a:rPr>
              <a:t>What I carry into my own research</a:t>
            </a:r>
          </a:p>
          <a:p>
            <a:pPr algn="l">
              <a:lnSpc>
                <a:spcPct val="116000"/>
              </a:lnSpc>
            </a:pPr>
            <a:r>
              <a:rPr sz="1400" b="0" i="1">
                <a:solidFill>
                  <a:srgbClr val="665C57"/>
                </a:solidFill>
                <a:latin typeface="Arial"/>
              </a:rPr>
              <a:t>One thing you will do differently next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54496"/>
            <a:ext cx="11185855" cy="12700"/>
          </a:xfrm>
          <a:prstGeom prst="rect">
            <a:avLst/>
          </a:prstGeom>
          <a:solidFill>
            <a:srgbClr val="B0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7115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53D3A"/>
                </a:solidFill>
                <a:latin typeface="Arial"/>
              </a:rPr>
              <a:t>Ulysse Hennebelle  ·  NYPD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433" y="6400800"/>
            <a:ext cx="4474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665C57"/>
                </a:solidFill>
                <a:latin typeface="Arial"/>
              </a:rPr>
              <a:t>7 of 7  ·  aim for 60 sec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